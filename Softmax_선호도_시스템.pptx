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7" r:id="rId28"/>
    <p:sldId id="258" r:id="rId9"/>
    <p:sldId id="259" r:id="rId10"/>
    <p:sldId id="260" r:id="rId11"/>
    <p:sldId id="276" r:id="rId27"/>
    <p:sldId id="275" r:id="rId26"/>
    <p:sldId id="274" r:id="rId25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1097280"/>
            <a:ext cx="4023360" cy="4023360"/>
          </a:xfrm>
          <a:prstGeom prst="ellipse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60152" y="4846320"/>
            <a:ext cx="2743200" cy="2743200"/>
          </a:xfrm>
          <a:prstGeom prst="ellipse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222222"/>
                </a:solidFill>
                <a:latin typeface="배달의민족 주아"/>
              </a:rPr>
              <a:t>ML 사용자 선호도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58BD4"/>
                </a:solidFill>
                <a:latin typeface="배달의민족 주아"/>
              </a:rPr>
              <a:t>Softmax 기반 음식 추천 개인화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2743200" cy="381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배달의민족 주아"/>
              </a:rPr>
              <a:t>먹구름 AI 비서 프로젝트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민수를 소개합니다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우리 시스템의 테스트 유저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840480" cy="539496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22222"/>
                </a:solidFill>
                <a:latin typeface="배달의민족 주아"/>
              </a:rPr>
              <a:t>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2222"/>
                </a:solidFill>
                <a:latin typeface="배달의민족 주아"/>
              </a:rPr>
              <a:t>민수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음식을 정말 좋아하는 평범한 직장인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3291840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제일 좋아하는 음식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58BD4"/>
                </a:solidFill>
                <a:latin typeface="배달의민족 주아"/>
              </a:rPr>
              <a:t>🍱 돈까스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45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(분식 카테고리)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109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그 외 좋아하는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21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삼겹살 🥩  |  김치찌개 🍲  |  제육볶음 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09728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배달의민족 주아"/>
              </a:rPr>
              <a:t>민수의 실제 선호도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48132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(우리 시스템이 최종적으로 학습해야 할 목표)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🍱 분식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58BD4"/>
                </a:solidFill>
                <a:latin typeface="배달의민족 주아"/>
              </a:rPr>
              <a:t>★★★★★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048256"/>
            <a:ext cx="3200400" cy="347472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37392" y="20482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🍲 한식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BD85"/>
                </a:solidFill>
                <a:latin typeface="배달의민족 주아"/>
              </a:rPr>
              <a:t>★★★★☆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2779776"/>
            <a:ext cx="1173480" cy="347472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0472" y="27797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22%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🍝 양식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★★☆☆☆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511296"/>
            <a:ext cx="42672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3712" y="3511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🍜 중식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★★☆☆☆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242816"/>
            <a:ext cx="26670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3692" y="42428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🍣 일식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★☆☆☆☆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974336"/>
            <a:ext cx="16002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7012" y="49743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🍰 디저트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★☆☆☆☆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705856"/>
            <a:ext cx="106680" cy="34747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3672" y="5705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기존 추천 방식 — 민수에게 추천해보면?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규칙 기반 / 랜덤 순서로 식당 목록 반환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5394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88"/>
                </a:solidFill>
                <a:latin typeface="배달의민족 주아"/>
              </a:rPr>
              <a:t>🧑  민수에게 추천된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(DB 순서 / 평점 기준)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305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🍝 파스타집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3055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3055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61488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80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🍣 스시로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803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11296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301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301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🍕 피자헛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301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6301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61104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799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799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🌮 타코벨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3799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799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10912"/>
            <a:ext cx="493776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2978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#5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1297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🍜 마라탕집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2978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12978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⭐ 4.4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22222"/>
                </a:solidFill>
                <a:latin typeface="배달의민족 주아"/>
              </a:rPr>
              <a:t>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1097280"/>
            <a:ext cx="5029200" cy="53949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12344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5C5C"/>
                </a:solidFill>
                <a:latin typeface="배달의민족 주아"/>
              </a:rPr>
              <a:t>🧑  민수가 원했던 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2011680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213055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1305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🍱 돈까스집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21305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213055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최애!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2761488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288036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2880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🍲 순대국밥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28803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288036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자주 먹음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3511296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63016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6301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🥩 삼겹살집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36301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36301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좋아함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0" y="4261104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3799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4위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43799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🍖 제육볶음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37997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437997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좋아함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5010912"/>
            <a:ext cx="466344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512978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5C5C"/>
                </a:solidFill>
                <a:latin typeface="배달의민족 주아"/>
              </a:rPr>
              <a:t>5위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51297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🍜 라면집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60" y="512978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512978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좋아함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4/25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핵심 문제 — 시스템이 민수를 모른다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추천 시스템이 개인의 취향을 학습해야 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109728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C5C"/>
                </a:solidFill>
                <a:latin typeface="배달의민족 주아"/>
              </a:rPr>
              <a:t>양식 4.8점  &gt;  분식 4.2점  →  파스타집이 1위?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배달의민족 주아"/>
              </a:rPr>
              <a:t>민수한테는 돈까스집 4.2점이 파스타집 4.8점보다 훨씬 먹고 싶은데...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3474720" cy="3200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347472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배달의민족 주아"/>
              </a:rPr>
              <a:t>평점은 대중의 취향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모든 사람의 평균 평점
민수 개인의 취향과 다름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2560320" cy="43891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개인화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331720"/>
            <a:ext cx="3474720" cy="3200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2331720"/>
            <a:ext cx="347472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468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64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배달의민족 주아"/>
              </a:rPr>
              <a:t>카테고리 무시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587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한식/분식/양식 선호도
전혀 고려 안 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663440"/>
            <a:ext cx="2560320" cy="43891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취향 반영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331720"/>
            <a:ext cx="3474720" cy="3200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2331720"/>
            <a:ext cx="347472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468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336499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배달의민족 주아"/>
              </a:rPr>
              <a:t>학습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3858768"/>
            <a:ext cx="3108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붐업·붐다운 해도
다음에 달라지지 않음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79" y="4663440"/>
            <a:ext cx="2560320" cy="43891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9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피드백 무시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23560"/>
            <a:ext cx="11247120" cy="100584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424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424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배달의민족 주아"/>
              </a:rPr>
              <a:t>민수가 어떤 음식을 좋아하는지 학습하고, 그에 맞는 식당을 추천하자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60807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피드백(붐업/붐다운/월드컵)을 통해 개인 취향을 실시간으로 학습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5/25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Softmax — 점수를 확률 분포로 변환하는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여러 선택지 중 각각의 확률을 합이 1이 되도록 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수식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55680" cy="804672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58BD4"/>
                </a:solidFill>
                <a:latin typeface="배달의민족 주아"/>
              </a:rPr>
              <a:t>P(i) = exp(θᵢ) / Σⱼ exp(θⱼ)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2763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배달의민족 주아"/>
              </a:rPr>
              <a:t>θ = 카테고리별 점수 (로짓)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예시 — 로짓 점수를 넣으면 확률이 나옵니다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816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54680"/>
            <a:ext cx="1234440" cy="658368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배달의민족 주아"/>
              </a:rPr>
              <a:t>로짓 점수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130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29184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+3.5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29184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+2.1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29184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+0.4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29184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-0.6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329184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-0.3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29184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+0.0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154680"/>
            <a:ext cx="1362456" cy="65836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329184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-0.5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160520"/>
            <a:ext cx="1234440" cy="658368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233672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배달의민족 주아"/>
              </a:rPr>
              <a:t>exp()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188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429768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01E"/>
                </a:solidFill>
                <a:latin typeface="배달의민족 주아"/>
              </a:rPr>
              <a:t>33.1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4612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429768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01E"/>
                </a:solidFill>
                <a:latin typeface="배달의민족 주아"/>
              </a:rPr>
              <a:t>8.2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29768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01E"/>
                </a:solidFill>
                <a:latin typeface="배달의민족 주아"/>
              </a:rPr>
              <a:t>1.5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6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29768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01E"/>
                </a:solidFill>
                <a:latin typeface="배달의민족 주아"/>
              </a:rPr>
              <a:t>0.5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8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429768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01E"/>
                </a:solidFill>
                <a:latin typeface="배달의민족 주아"/>
              </a:rPr>
              <a:t>0.7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429768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01E"/>
                </a:solidFill>
                <a:latin typeface="배달의민족 주아"/>
              </a:rPr>
              <a:t>1.0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32720" y="4160520"/>
            <a:ext cx="1362456" cy="658368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32720" y="429768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01E"/>
                </a:solidFill>
                <a:latin typeface="배달의민족 주아"/>
              </a:rPr>
              <a:t>0.6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166360"/>
            <a:ext cx="1234440" cy="65836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239512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배달의민족 주아"/>
              </a:rPr>
              <a:t>확률 (%)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5166360"/>
            <a:ext cx="1362456" cy="658368"/>
          </a:xfrm>
          <a:prstGeom prst="roundRect">
            <a:avLst/>
          </a:prstGeom>
          <a:solidFill>
            <a:srgbClr val="358BD4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0" y="530352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배달의민족 주아"/>
              </a:rPr>
              <a:t>73%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4612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46120" y="530352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58BD4"/>
                </a:solidFill>
                <a:latin typeface="배달의민족 주아"/>
              </a:rPr>
              <a:t>18%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530352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58BD4"/>
                </a:solidFill>
                <a:latin typeface="배달의민족 주아"/>
              </a:rPr>
              <a:t>3%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8076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60" y="530352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58BD4"/>
                </a:solidFill>
                <a:latin typeface="배달의민족 주아"/>
              </a:rPr>
              <a:t>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9808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0" y="530352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58BD4"/>
                </a:solidFill>
                <a:latin typeface="배달의민족 주아"/>
              </a:rPr>
              <a:t>2%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1540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15400" y="530352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58BD4"/>
                </a:solidFill>
                <a:latin typeface="배달의민족 주아"/>
              </a:rPr>
              <a:t>2%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332720" y="5166360"/>
            <a:ext cx="1362456" cy="658368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32720" y="5303520"/>
            <a:ext cx="1362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58BD4"/>
                </a:solidFill>
                <a:latin typeface="배달의민족 주아"/>
              </a:rPr>
              <a:t>1%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6263640"/>
            <a:ext cx="11155680" cy="38404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630936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지수 함수 효과 — 점수 차이가 클수록 확률 차이는 폭발적으로 커집니다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6/25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그런데 — θ(로짓 점수)를 어떻게 구하나?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Softmax 수식은 알겠는데, 입력값을 어디서 얻지?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5120640" cy="53035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512064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5C5C"/>
                </a:solidFill>
                <a:latin typeface="배달의민족 주아"/>
              </a:rPr>
              <a:t>일반적인 Softmax 분류 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(TensorFlow / 지도학습)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4663440" cy="109728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📦 학습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'한식' 먹고 싶다 = True
'양식' 먹고 싶다 =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4663440" cy="109728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🤖 모델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model.fit() — 정답 레이블로
역전파(backprop)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4531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54296"/>
            <a:ext cx="4663440" cy="109728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274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✅ θ 자동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11496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데이터에서 자동으로
가중치가 결정됨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303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문제!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230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민수가 '분식 먹고 싶다'고 레이블을 달아주지 않았잖아.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정답 데이터가 없다!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58BD4"/>
                </a:solidFill>
                <a:latin typeface="배달의민족 주아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15568"/>
            <a:ext cx="5303520" cy="53035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15568"/>
            <a:ext cx="530352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234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58BD4"/>
                </a:solidFill>
                <a:latin typeface="배달의민족 주아"/>
              </a:rPr>
              <a:t>우리의 해결책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276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민수의 행동이 곧 레이블!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057400"/>
            <a:ext cx="4937760" cy="1097280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2130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BD85"/>
                </a:solidFill>
                <a:latin typeface="배달의민족 주아"/>
              </a:rPr>
              <a:t>🏆 월드컵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51460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돈까스 선택 = 분식 좋아함
라벨 없어도 행동이 신호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355848"/>
            <a:ext cx="4937760" cy="109728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3429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BD4"/>
                </a:solidFill>
                <a:latin typeface="배달의민족 주아"/>
              </a:rPr>
              <a:t>👍 붐업 클릭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813048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돈까스집 좋아요
= 분식 +0.2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4531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654296"/>
            <a:ext cx="4937760" cy="109728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2" y="47274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BD4"/>
                </a:solidFill>
                <a:latin typeface="배달의민족 주아"/>
              </a:rPr>
              <a:t>✏️ 즉시 θ 업데이트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5111496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피드백 받을 때마다 바로
θ_분식 += 0.2 반영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10/25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피드백이 θ를 업데이트합니다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붐업 / 붐다운 / 월드컵 → 즉시 로짓 점수 조정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배달의민족 주아"/>
              </a:rPr>
              <a:t>업데이트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8686800" cy="50292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🏆 월드컵 승리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6276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θ[winner_category] +=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276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강한 선호 신호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21408"/>
            <a:ext cx="86868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🏆 월드컵 탈락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θ[loser_category]  -=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거부감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88336"/>
            <a:ext cx="8686800" cy="50292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👍 붐업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761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θ[category]        += 0.2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61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명시적 긍정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55264"/>
            <a:ext cx="86868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3284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👎 붐다운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284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θ[category]        -= 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284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명시적 부정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22192"/>
            <a:ext cx="8686800" cy="50292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953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🍽 메뉴 선택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8953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θ[category]        += 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953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행동 기반 신호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72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Python 코드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83480"/>
            <a:ext cx="5486400" cy="16642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983480"/>
            <a:ext cx="45720" cy="1664208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5074920"/>
            <a:ext cx="5303520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def update_logit(logits, category, event):</a:t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    alpha = {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'worldcup_win':  +0.5,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'worldcup_lose': -0.3,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        'like':          +0.2,</a:t>
            </a:r>
          </a:p>
          <a:p>
            <a:r>
              <a:rPr sz="1100">
                <a:solidFill>
                  <a:srgbClr val="FF5C5C"/>
                </a:solidFill>
                <a:latin typeface="Consolas"/>
              </a:rPr>
              <a:t>        'dislike':       -0.2,</a:t>
            </a:r>
          </a:p>
          <a:p>
            <a:r>
              <a:rPr sz="1100">
                <a:solidFill>
                  <a:srgbClr val="358BD4"/>
                </a:solidFill>
                <a:latin typeface="Consolas"/>
              </a:rPr>
              <a:t>        'menu_select':   +0.1,</a:t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    }[event]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logits[category] += alpha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return logits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민수 예시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월드컵: 돈까스 승리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029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θ['분식'] 0.0 → +0.5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76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월드컵: 파스타 탈락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3766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5C"/>
                </a:solidFill>
                <a:latin typeface="배달의민족 주아"/>
              </a:rPr>
              <a:t>θ['양식'] 0.0 → -0.3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724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돈까스집 붐업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724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θ['분식'] 0.5 → +0.2 = 0.7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0716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삼겹살집 붐업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60716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θ['한식'] 0.0 → +0.2 = 0.2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419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• 파스타집 붐다운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4190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5C"/>
                </a:solidFill>
                <a:latin typeface="배달의민족 주아"/>
              </a:rPr>
              <a:t>θ['양식'] -0.3 → -0.2 = -0.5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11/25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민수의 θ가 변해가는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피드백이 쌓일수록 취향이 선명해집니다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0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88888"/>
                </a:solidFill>
                <a:latin typeface="배달의민족 주아"/>
              </a:rPr>
              <a:t>처음 (월드컵 직후)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383280" cy="10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배달의민족 주아"/>
              </a:rPr>
              <a:t>로짓  →  확률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분식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933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+0.5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9933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029968"/>
            <a:ext cx="469391" cy="274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2552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96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한식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4963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+0.0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96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2532888"/>
            <a:ext cx="298704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1864" y="25146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양식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992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-0.3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9992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3035808"/>
            <a:ext cx="213360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6520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02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50215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5021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3538728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1864" y="3520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05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0050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0050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40" y="4041648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21864" y="4023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5079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5079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7440" y="4544568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1864" y="45262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0109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0109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77440" y="5047488"/>
            <a:ext cx="298704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21864" y="5029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4747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1097280"/>
            <a:ext cx="3657600" cy="50292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43400" y="1097280"/>
            <a:ext cx="365760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30회 피드백 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1554480"/>
            <a:ext cx="3383280" cy="1016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1600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배달의민족 주아"/>
              </a:rPr>
              <a:t>로짓  →  확률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1993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분식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19933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+2.1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19933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2029968"/>
            <a:ext cx="1109472" cy="274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18832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52%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2496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한식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66360" y="24963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+1.2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2496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2532888"/>
            <a:ext cx="448056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57416" y="25146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21%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8056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양식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29992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-0.8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80" y="29992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3035808"/>
            <a:ext cx="64008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3502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66360" y="350215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97880" y="35021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3538728"/>
            <a:ext cx="10668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16040" y="3520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4005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66360" y="40050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97880" y="40050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63640" y="4041648"/>
            <a:ext cx="12801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37376" y="4023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360" y="45079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97880" y="45079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63640" y="4544568"/>
            <a:ext cx="12801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37376" y="45262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8056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50109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97880" y="50109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63640" y="5047488"/>
            <a:ext cx="12801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37376" y="5029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01000" y="34747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229600" y="1097280"/>
            <a:ext cx="3657600" cy="50292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29600" y="1097280"/>
            <a:ext cx="365760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100회 피드백 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66760" y="1554480"/>
            <a:ext cx="3383280" cy="1016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66760" y="1600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배달의민족 주아"/>
              </a:rPr>
              <a:t>로짓  →  확률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66760" y="1993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58BD4"/>
                </a:solidFill>
                <a:latin typeface="배달의민족 주아"/>
              </a:rPr>
              <a:t>분식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0" y="19933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+3.5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19933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149840" y="2029968"/>
            <a:ext cx="1578864" cy="274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774424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74%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66760" y="2496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D85"/>
                </a:solidFill>
                <a:latin typeface="배달의민족 주아"/>
              </a:rPr>
              <a:t>한식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0" y="24963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+2.1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784080" y="2496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149840" y="2532888"/>
            <a:ext cx="384048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579608" y="25146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18%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676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양식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52560" y="29992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-1.2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84080" y="29992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149840" y="3035808"/>
            <a:ext cx="45720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16896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1%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66760" y="3502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0" y="350215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84080" y="35021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149840" y="3538728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216896" y="3520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66760" y="4005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0" y="40050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784080" y="40050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149840" y="4041648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38232" y="4023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66760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52560" y="450799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+0.0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784080" y="45079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149840" y="4544568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238232" y="45262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6676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52560" y="50109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-0.5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84080" y="50109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49840" y="5047488"/>
            <a:ext cx="4572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216896" y="5029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6236208"/>
            <a:ext cx="11274552" cy="41148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0080" y="6291072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배달의민족 주아"/>
              </a:rPr>
              <a:t>피드백 100회 후 — 분식 52%, 한식 22% → 민수의 취향을 정확히 반영!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12/25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문제 1 — 돈까스만 계속 추천됩니다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피드백이 쌓이면 확률이 한 곳에 집중되는 필터 버블 발생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53035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5C5C"/>
                </a:solidFill>
                <a:latin typeface="배달의민족 주아"/>
              </a:rPr>
              <a:t>200회 피드백 후 확률 분포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(Temperature 없이 순수 Softmax)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482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66544"/>
            <a:ext cx="3657600" cy="2743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20665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511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569464"/>
            <a:ext cx="927278" cy="27432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347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540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72384"/>
            <a:ext cx="206061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42253" y="307238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575304"/>
            <a:ext cx="154546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0738" y="357530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599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078224"/>
            <a:ext cx="103030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39222" y="40782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628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581144"/>
            <a:ext cx="51515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87707" y="45811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657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5084064"/>
            <a:ext cx="51515" cy="2743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87707" y="50840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577840"/>
            <a:ext cx="4937760" cy="59436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69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결과: 민수에게 5개 식당 모두 분식집만 추천됨!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417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4173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417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배달의민족 주아"/>
              </a:rPr>
              <a:t>분식 확률이 71%로 독점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783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다른 카테고리는 영원히 추천받지 못할 수도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1214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민수도 가끔은 한식, 양식이 먹고 싶을 텐데...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2606040"/>
            <a:ext cx="5943600" cy="347472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0" y="2606040"/>
            <a:ext cx="594360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27249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01E"/>
                </a:solidFill>
                <a:latin typeface="배달의민족 주아"/>
              </a:rPr>
              <a:t>원인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12724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Softmax의 지수 함수는 점수 차이를 폭발적으로 키웁니다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611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θ_분식 = 3.5,  θ_한식 = 2.1  →  확률 차이: 4배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005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학습이 계속될수록 이 현상은 더 심해집니다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3708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→ 결국 같은 음식만 반복 추천되는 필터 버블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13/25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1 — Temperature Softmax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온도 T를 올려 확률 분포를 평탄하게 만듭니다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155680" cy="77724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BD4"/>
                </a:solidFill>
                <a:latin typeface="배달의민족 주아"/>
              </a:rPr>
              <a:t>P(i) = exp(θᵢ / T) / Σⱼ exp(θⱼ / T)       T가 클수록 분포가 평탄 (다양성 ↑)   |   T=1.5 채택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486400" cy="39319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48640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848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5C5C"/>
                </a:solidFill>
                <a:latin typeface="배달의민족 주아"/>
              </a:rPr>
              <a:t>T = 1.0 (기본)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3312" y="2615184"/>
            <a:ext cx="3657600" cy="25603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5968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C5C"/>
                </a:solidFill>
                <a:latin typeface="배달의민족 주아"/>
              </a:rPr>
              <a:t>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540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53312" y="3072384"/>
            <a:ext cx="927278" cy="256032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6310" y="30540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3529584"/>
            <a:ext cx="206061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5093" y="35112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684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53312" y="3986784"/>
            <a:ext cx="154546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3578" y="39684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256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3312" y="4443984"/>
            <a:ext cx="103030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2062" y="44256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53312" y="4901184"/>
            <a:ext cx="51515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0547" y="48828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400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3312" y="5358384"/>
            <a:ext cx="51515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50547" y="53400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011680"/>
            <a:ext cx="5486400" cy="39319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011680"/>
            <a:ext cx="548640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0848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58BD4"/>
                </a:solidFill>
                <a:latin typeface="배달의민족 주아"/>
              </a:rPr>
              <a:t>T = 1.5 (채택)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5968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6912" y="2615184"/>
            <a:ext cx="2163650" cy="256032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6282" y="25968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0540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3072384"/>
            <a:ext cx="1236371" cy="256032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9003" y="30540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BD85"/>
                </a:solidFill>
                <a:latin typeface="배달의민족 주아"/>
              </a:rPr>
              <a:t>24%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5112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6912" y="3529584"/>
            <a:ext cx="618185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60817" y="35112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12%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9684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96912" y="3986784"/>
            <a:ext cx="412123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54755" y="39684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4256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96912" y="4443984"/>
            <a:ext cx="309092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51724" y="44256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8828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96912" y="4901184"/>
            <a:ext cx="257577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00209" y="48828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53400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6912" y="5358384"/>
            <a:ext cx="154546" cy="256032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7178" y="534009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053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400800"/>
            <a:ext cx="5669280" cy="11887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6400800"/>
            <a:ext cx="45720" cy="118872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6492240"/>
            <a:ext cx="5486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def softmax_temp(logits, T=1.5):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exp_vals = {k: math.exp(v / T)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         for k, v in logits.items()}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total = sum(exp_vals.values())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return {k: v / total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        for k, v in exp_vals.items()}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6053328"/>
            <a:ext cx="5486400" cy="150876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6172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효과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6172200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분식 71% → 42%  (독점 해소)
다른 카테고리도 추천받을 기회 생김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6583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민수도 가끔 한식·양식이 추천됩니다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14/25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문제 2 — 민수가 다이어트를 시작했습니다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과거의 강한 피드백이 오늘의 추천을 지배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155680" cy="146304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618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6개월 전까지 돈까스를 매일 먹었던 민수 → 지난 달부터 다이어트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276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요즘은 샐러드, 닭가슴살 등 가벼운 음식 선호  |  하지만 시스템은 여전히 돈까스를 1위로 추천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566160" cy="11887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8BD4"/>
                </a:solidFill>
                <a:latin typeface="배달의민족 주아"/>
              </a:rPr>
              <a:t>6개월 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82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돈까스 매일 붐업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분식 θ = +3.5 (지배적)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31546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743200"/>
            <a:ext cx="3566160" cy="1188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3개월 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82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건강식 조금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 θ = +3.5 그대로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31546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743200"/>
            <a:ext cx="3566160" cy="11887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현재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1821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다이어트 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5C"/>
                </a:solidFill>
                <a:latin typeface="배달의민족 주아"/>
              </a:rPr>
              <a:t>분식 θ = +3.5 (여전히 1위!)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69080"/>
            <a:ext cx="1115568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206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6개월 전 피드백이 오늘 추천에 100% 영향을 미칩니다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5537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취향은 시간에 따라 변하는데 — 오래된 데이터는 점점 신뢰도가 낮아져야 합니다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38928"/>
            <a:ext cx="11155680" cy="502920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배달의민족 주아"/>
              </a:rPr>
              <a:t>해결 방향: 오래된 피드백의 가중치를 시간이 지날수록 줄여나가자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15/25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2 — Temporal Decay (시간 감쇠)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오래된 피드백은 점점 영향력이 줄어듭니다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155680" cy="804672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θ_effective = θ_stored × γ^(경과 일수)       γ = 0.95  →  매일 5%씩 감쇠   |   30일 후 약 21%만 남음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1280160" cy="256032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오늘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451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56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2459736"/>
            <a:ext cx="1280160" cy="1792224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7일 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46451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ABD85"/>
                </a:solidFill>
                <a:latin typeface="배달의민족 주아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4956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0096" y="3714292"/>
            <a:ext cx="1280160" cy="537667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30일 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46451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21%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4956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4206240"/>
            <a:ext cx="1280160" cy="45720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90일 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744" y="46451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C5C"/>
                </a:solidFill>
                <a:latin typeface="배달의민족 주아"/>
              </a:rPr>
              <a:t>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4956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65792" y="4206240"/>
            <a:ext cx="1280160" cy="457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배달의민족 주아"/>
              </a:rPr>
              <a:t>180일 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46451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88888"/>
                </a:solidFill>
                <a:latin typeface="배달의민족 주아"/>
              </a:rP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4956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배달의민족 주아"/>
              </a:rPr>
              <a:t>θ × 0.00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79392"/>
            <a:ext cx="11274552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687568"/>
            <a:ext cx="5669280" cy="171907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687568"/>
            <a:ext cx="45720" cy="1719072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779008"/>
            <a:ext cx="54864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from datetime import datetime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def apply_decay(logit, updated_at, gamma=0.95):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days = (datetime.now() - updated_at).days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return logit * (gamma ** days)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# 사용 예시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theta_분식 = apply_decay(3.5, date_180days_ago)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# → 3.5 × 0.95^180 ≈ 0.0003  (거의 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349240"/>
            <a:ext cx="5394960" cy="20574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468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민수에게 적용하면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870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6개월 전 돈까스 붐업  →  θ × 0.95^180 ≈ 0.0003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6217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지난 주 샐러드집 붐업  →  θ × 0.95^7 ≈ 0.70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6565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→ 최근 다이어트 습관이 반영된 추천!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16/25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문제 3 — 어떤 카테고리는 영원히 추천 안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 번도 선택 안 한 카테고리 = 확률 0% = 추천 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155680" cy="1444752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618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민수는 디저트를 한 번도 선택한 적 없음  →  θ['디저트'] = 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276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Softmax 후 P('디저트') ≈ 0%  →  디저트 카테고리 식당은 영원히 추천 안 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5C5C"/>
                </a:solidFill>
                <a:latin typeface="배달의민족 주아"/>
              </a:rPr>
              <a:t>실제로 민수가 디저트를 먹고 싶은 날이 있어도 — 시스템은 절대 추천하지 않습니다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90672"/>
            <a:ext cx="5120640" cy="3090672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문제: 확률이 0%에 수렴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75887"/>
            <a:ext cx="4572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5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🍰 디저트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9475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배달의민족 주아"/>
              </a:rPr>
              <a:t>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4572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9943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🍝 양식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59943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-0.5 → 0.8%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85231"/>
            <a:ext cx="4572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0410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🍣 일식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40410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0.0 → 2.2%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090672"/>
            <a:ext cx="5852160" cy="3090672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3090672"/>
            <a:ext cx="585216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2186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BD85"/>
                </a:solidFill>
                <a:latin typeface="배달의민족 주아"/>
              </a:rPr>
              <a:t>해결 방향: 최소 확률 보장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584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어떤 카테고리도 완전히 0%가 되지 않도록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77639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BD85"/>
                </a:solidFill>
                <a:latin typeface="배달의민족 주아"/>
              </a:rPr>
              <a:t>P_final(i) = (1 - ε) × P_softmax(i) + ε/K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389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ε = 0.1,  K = 7  →  최소 확률 ≈ 1.4%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773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BD85"/>
                </a:solidFill>
                <a:latin typeface="배달의민족 주아"/>
              </a:rPr>
              <a:t>→ 민수가 원하면 디저트도 추천받을 수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166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라플라스 스무딩(Laplace Smoothing)과
같은 원리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17/25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해결책 3 — Dirichlet Floor (최소 확률 보장)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모든 카테고리에 최소 1.4%의 확률을 보장합니다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155680" cy="804672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BD85"/>
                </a:solidFill>
                <a:latin typeface="배달의민족 주아"/>
              </a:rPr>
              <a:t>P_final(i) = (1 - ε) × P_softmax(i) + ε/K         ε=0.1, K=7  →  최소 확률 = 0.1/7 ≈ 1.4%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5669280" cy="28346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45720" cy="28346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54864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def apply_floor(probs, eps=0.1, K=7):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"""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eps: 최소 확률 비중 (0.1 = 10%)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K  : 카테고리 수</a:t>
            </a:r>
          </a:p>
          <a:p>
            <a:r>
              <a:rPr sz="1100">
                <a:solidFill>
                  <a:srgbClr val="555555"/>
                </a:solidFill>
                <a:latin typeface="Consolas"/>
              </a:rPr>
              <a:t>    """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return {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k: (1 - eps) * p + eps / K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  for k, p in probs.items()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# 적용 예시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softmax_probs = {'분식':0.71,'한식':0.18,'디저트':0.0,...}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final = apply_floor(softmax_probs)  # 디저트 → 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배달의민족 주아"/>
              </a:rPr>
              <a:t>적용 전 / 후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957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배달의민족 주아"/>
              </a:rPr>
              <a:t>카테고리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3957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5C5C"/>
                </a:solidFill>
                <a:latin typeface="배달의민족 주아"/>
              </a:rPr>
              <a:t>적용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3957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BD85"/>
                </a:solidFill>
                <a:latin typeface="배달의민족 주아"/>
              </a:rPr>
              <a:t>적용 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52120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834640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8895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분식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8895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71%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8895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58BD4"/>
                </a:solidFill>
                <a:latin typeface="배달의민족 주아"/>
              </a:rPr>
              <a:t>65%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73552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3284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한식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3284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3284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ABD85"/>
                </a:solidFill>
                <a:latin typeface="배달의민족 주아"/>
              </a:rPr>
              <a:t>17%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12464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양식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7673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151376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중식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590288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645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일식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645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4645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029200"/>
            <a:ext cx="5212080" cy="384048"/>
          </a:xfrm>
          <a:prstGeom prst="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50840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디저트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50840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5C5C"/>
                </a:solidFill>
                <a:latin typeface="배달의민족 주아"/>
              </a:rPr>
              <a:t>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50840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BD85"/>
                </a:solidFill>
                <a:latin typeface="배달의민족 주아"/>
              </a:rPr>
              <a:t>1.4%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468112"/>
            <a:ext cx="521208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5522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배달의민족 주아"/>
              </a:rPr>
              <a:t>기타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5522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5522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6035040"/>
            <a:ext cx="5212080" cy="54864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디저트 0% → 1.4%  가끔은 의외의 추천도 가능!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18/25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최종 수식 — 3가지를 모두 합칩니다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Temperature + Temporal Decay + Dirichlet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155680" cy="1170432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" cy="1170432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01E"/>
                </a:solidFill>
                <a:latin typeface="배달의민족 주아"/>
              </a:rPr>
              <a:t>① Temporal Decay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오래된 피드백 가중치 줄이기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80160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399032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θ_eff(i) = θ(i) × 0.95^(경과 일수)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1343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11155680" cy="1170432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41448"/>
            <a:ext cx="54864" cy="1170432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58BD4"/>
                </a:solidFill>
                <a:latin typeface="배달의민족 주아"/>
              </a:rPr>
              <a:t>② Temperature Softmax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169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확률 분포 평탄화 (다양성 확보)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578608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6974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raw_prob(i) = exp(θ_eff(i) / 1.5) / Σ exp(θ_eff(j) / 1.5)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61188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39896"/>
            <a:ext cx="11155680" cy="1170432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39896"/>
            <a:ext cx="54864" cy="1170432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13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BD85"/>
                </a:solidFill>
                <a:latin typeface="배달의민족 주아"/>
              </a:rPr>
              <a:t>③ Dirichlet Floor 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최소 확률 1.4% 보장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877056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399592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BD85"/>
                </a:solidFill>
                <a:latin typeface="배달의민족 주아"/>
              </a:rPr>
              <a:t>P_final(i) = 0.9 × raw_prob(i) + 0.1 /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91032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38344"/>
            <a:ext cx="11155680" cy="1170432"/>
          </a:xfrm>
          <a:prstGeom prst="round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38344"/>
            <a:ext cx="54864" cy="1170432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114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6FD4"/>
                </a:solidFill>
                <a:latin typeface="배달의민족 주아"/>
              </a:rPr>
              <a:t>④ 추천 정렬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P_final 높은 순서로 식당 추천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5175504"/>
            <a:ext cx="6492240" cy="82296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5294376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restaurants.sort(key=lambda r: P_final[r.category])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19/25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민수에게 최종 추천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3가지 장치를 모두 적용한 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53949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🧑 민수 현재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(다이어트 3주차)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분식 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3.5 → 감쇠 후 0.8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BD85"/>
                </a:solidFill>
                <a:latin typeface="배달의민족 주아"/>
              </a:rPr>
              <a:t>한식 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2.1 → 감쇠 후 1.8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13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배달의민족 주아"/>
              </a:rPr>
              <a:t>양식 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-1.2 → 감쇠 후 -0.5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28346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배달의민족 주아"/>
              </a:rPr>
              <a:t>디저트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BD85"/>
                </a:solidFill>
                <a:latin typeface="배달의민족 주아"/>
              </a:rPr>
              <a:t>최근 3주
샐러드 붐업↑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097280"/>
            <a:ext cx="7406640" cy="539496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23444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58BD4"/>
                </a:solidFill>
                <a:latin typeface="배달의민족 주아"/>
              </a:rPr>
              <a:t>최종 추천 결과 TOP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627632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(Decay + Temperature + Floor 모두 적용)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1755648"/>
            <a:ext cx="7040880" cy="749808"/>
          </a:xfrm>
          <a:prstGeom prst="roundRect">
            <a:avLst/>
          </a:prstGeom>
          <a:solidFill>
            <a:srgbClr val="358BD4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1847088"/>
            <a:ext cx="384048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9110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배달의민족 주아"/>
              </a:rPr>
              <a:t>🍲 한국관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21945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배달의민족 주아"/>
              </a:rPr>
              <a:t>한식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883664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19110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BD85"/>
                </a:solidFill>
                <a:latin typeface="배달의민족 주아"/>
              </a:rPr>
              <a:t>P = 38%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2651760"/>
            <a:ext cx="7040880" cy="749808"/>
          </a:xfrm>
          <a:prstGeom prst="roundRect">
            <a:avLst/>
          </a:prstGeom>
          <a:solidFill>
            <a:srgbClr val="358BD4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2743200"/>
            <a:ext cx="384048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28072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배달의민족 주아"/>
              </a:rPr>
              <a:t>🥗 샐러드팩토리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4" y="3090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배달의민족 주아"/>
              </a:rPr>
              <a:t>양식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2779776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28072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BD85"/>
                </a:solidFill>
                <a:latin typeface="배달의민족 주아"/>
              </a:rPr>
              <a:t>P = 22%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3547872"/>
            <a:ext cx="70408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26280" y="3639312"/>
            <a:ext cx="384048" cy="56692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3703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2624" y="36393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🍱 경양식돈까스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2624" y="39867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3675888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37033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배달의민족 주아"/>
              </a:rPr>
              <a:t>P = 18%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4443984"/>
            <a:ext cx="70408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26280" y="4535424"/>
            <a:ext cx="384048" cy="56692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92624" y="4535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🥘 뚝배기집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92624" y="4882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4572000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6960" y="45994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배달의민족 주아"/>
              </a:rPr>
              <a:t>P = 12%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80560" y="5340096"/>
            <a:ext cx="70408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26280" y="5431536"/>
            <a:ext cx="384048" cy="566928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5495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58BD4"/>
                </a:solidFill>
                <a:latin typeface="배달의민족 주아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92624" y="54315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배달의민족 주아"/>
              </a:rPr>
              <a:t>🍰 카페베네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92624" y="5779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66960" y="5468112"/>
            <a:ext cx="13716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66960" y="54955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배달의민족 주아"/>
              </a:rPr>
              <a:t>P = 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83680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다이어트 시작 후 — 한식·샐러드가 상위권  |  돈까스는 3위로 내려감  |  디저트도 가끔 등장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20/25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왜 TensorFlow를 그대로 쓰지 않았나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5394960" cy="50292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5C5C"/>
                </a:solidFill>
                <a:latin typeface="배달의민족 주아"/>
              </a:rPr>
              <a:t>TensorFlow 배치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15568"/>
            <a:ext cx="5394960" cy="50292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58BD4"/>
                </a:solidFill>
                <a:latin typeface="배달의민족 주아"/>
              </a:rPr>
              <a:t>우리 시스템 (Online SGD)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3472" y="1719072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19072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836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학습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8836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model.fit() 배치 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8366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피드백마다 θ += 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33472" y="2377440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377440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420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반영 속도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25420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재학습 때까지 미반영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420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즉시 반영 (밀리초)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35808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33472" y="3035808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35808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200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신규 유저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32004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데이터 없으면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004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월드컵으로 즉시 시작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94176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33472" y="3694176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694176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8587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파라미터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38587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1,104개+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5876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7개 (카테고리 수)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52544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33472" y="4352544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352544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5171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필터버블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45171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별도 처리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5171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Temperature 내장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10912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33472" y="5010912"/>
            <a:ext cx="3547872" cy="65836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5010912"/>
            <a:ext cx="5486400" cy="658368"/>
          </a:xfrm>
          <a:prstGeom prst="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75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취향 변화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517550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재학습 시에만 반영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175504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58BD4"/>
                </a:solidFill>
                <a:latin typeface="배달의민족 주아"/>
              </a:rPr>
              <a:t>Temporal Decay 내장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69280"/>
            <a:ext cx="2103120" cy="65836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33472" y="5669280"/>
            <a:ext cx="3547872" cy="658368"/>
          </a:xfrm>
          <a:prstGeom prst="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5669280"/>
            <a:ext cx="5486400" cy="658368"/>
          </a:xfrm>
          <a:prstGeom prst="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833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수학 기반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4912" y="58338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01E"/>
                </a:solidFill>
                <a:latin typeface="배달의민족 주아"/>
              </a:rPr>
              <a:t>Softmax Regression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8338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BD85"/>
                </a:solidFill>
                <a:latin typeface="배달의민족 주아"/>
              </a:rPr>
              <a:t>Softmax Regression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364224"/>
            <a:ext cx="11274552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400800"/>
            <a:ext cx="10908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수학적으로 동일 — 단 실시간·경량·필터버블해결·취향변화대응까지 모두 갖춘 방식으로 전환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21/25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핵심 차이 — 누가 그래디언트를 만드나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두 방식 모두 '확률 분포 최적화'가 목표 — 방법이 다릅니다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303520" cy="521208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0352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A01E"/>
                </a:solidFill>
                <a:latin typeface="배달의민족 주아"/>
              </a:rPr>
              <a:t>일반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기계가 스스로 방향을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84831"/>
            <a:ext cx="4160520" cy="548640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F5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1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📦 데이터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3347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199"/>
            <a:ext cx="4160520" cy="548640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F5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39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🤖 모델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91839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01567"/>
            <a:ext cx="416052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93007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C5C"/>
                </a:solidFill>
                <a:latin typeface="배달의민족 주아"/>
              </a:rPr>
              <a:t>❗ 오차(Loss) 계산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50207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59935"/>
            <a:ext cx="416052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51375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C5C"/>
                </a:solidFill>
                <a:latin typeface="배달의민족 주아"/>
              </a:rPr>
              <a:t>🔁 그래디언트 자동 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608575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18303"/>
            <a:ext cx="4160520" cy="548640"/>
          </a:xfrm>
          <a:prstGeom prst="roundRect">
            <a:avLst/>
          </a:prstGeom>
          <a:solidFill>
            <a:srgbClr val="FEF3DC"/>
          </a:solidFill>
          <a:ln w="19050">
            <a:solidFill>
              <a:srgbClr val="F5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09743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01E"/>
                </a:solidFill>
                <a:latin typeface="배달의민족 주아"/>
              </a:rPr>
              <a:t>✏️ 가중치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01E"/>
                </a:solidFill>
                <a:latin typeface="배달의민족 주아"/>
              </a:rPr>
              <a:t>↺ 반복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926080"/>
            <a:ext cx="822960" cy="1371600"/>
          </a:xfrm>
          <a:prstGeom prst="round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32461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배달의민족 주아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1143000"/>
            <a:ext cx="4937760" cy="521208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1143000"/>
            <a:ext cx="493776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261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8BD4"/>
                </a:solidFill>
                <a:latin typeface="배달의민족 주아"/>
              </a:rPr>
              <a:t>우리 시스템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사람의 반응이 방향을 알려줌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084831"/>
            <a:ext cx="3840480" cy="54864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17627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📱 추천 결과 표시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63347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2743199"/>
            <a:ext cx="3840480" cy="548640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8346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ABD85"/>
                </a:solidFill>
                <a:latin typeface="배달의민족 주아"/>
              </a:rPr>
              <a:t>👤 민수가 반응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291839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3401567"/>
            <a:ext cx="3840480" cy="548640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3AB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349300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ABD85"/>
                </a:solidFill>
                <a:latin typeface="배달의민족 주아"/>
              </a:rPr>
              <a:t>👍/👎/🏆 피드백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950207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059935"/>
            <a:ext cx="3840480" cy="548640"/>
          </a:xfrm>
          <a:prstGeom prst="roundRect">
            <a:avLst/>
          </a:prstGeom>
          <a:solidFill>
            <a:srgbClr val="EEE8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15137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FD4"/>
                </a:solidFill>
                <a:latin typeface="배달의민족 주아"/>
              </a:rPr>
              <a:t>➡️ 이것이 그래디언트!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608575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배달의민족 주아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4718303"/>
            <a:ext cx="3840480" cy="548640"/>
          </a:xfrm>
          <a:prstGeom prst="roundRect">
            <a:avLst/>
          </a:prstGeom>
          <a:solidFill>
            <a:srgbClr val="E1F0FB"/>
          </a:solidFill>
          <a:ln w="19050">
            <a:solidFill>
              <a:srgbClr val="35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80974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8BD4"/>
                </a:solidFill>
                <a:latin typeface="배달의민족 주아"/>
              </a:rPr>
              <a:t>✏️ θ 즉시 업데이트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989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58BD4"/>
                </a:solidFill>
                <a:latin typeface="배달의민족 주아"/>
              </a:rPr>
              <a:t>↺ 반복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510528"/>
            <a:ext cx="10908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사람의 선택 = 그래디언트  —  ChatGPT 학습에 쓰인 RLHF(인간 피드백 강화학습)와 같은 원리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22/25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n8n으로 실제 서비스에 연결했습니다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사용자 행동 → 자동 로짓 업데이트 → 개인화 추천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11880" cy="384048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61188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611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POST /webhook/worldcup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24912"/>
            <a:ext cx="31546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worldcup_sessions 저장
카테고리별 θ 초기화
Softmax → TOP3 반환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3611880" cy="384048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61188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325880"/>
            <a:ext cx="3611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1284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POST /webhook/feedback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724912"/>
            <a:ext cx="31546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816352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food_feedback 저장
θ[category] ±= 0.2
즉시 반영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611880" cy="384048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61188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325880"/>
            <a:ext cx="3611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1284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POST /webhook/food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724912"/>
            <a:ext cx="3154680" cy="15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16352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θ 조회 → Decay 적용
Temperature Softmax
→ Floor → 식당 정렬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38928"/>
            <a:ext cx="11274552" cy="1536192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303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전체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577840"/>
            <a:ext cx="1828800" cy="685800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React 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577840"/>
            <a:ext cx="1828800" cy="68580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n8n Webhook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5577840"/>
            <a:ext cx="1828800" cy="685800"/>
          </a:xfrm>
          <a:prstGeom prst="round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Supabase (θ)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5577840"/>
            <a:ext cx="1828800" cy="685800"/>
          </a:xfrm>
          <a:prstGeom prst="round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Decay+Softmax+Floor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7424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5577840"/>
            <a:ext cx="1828800" cy="685800"/>
          </a:xfrm>
          <a:prstGeom prst="round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배달의민족 주아"/>
              </a:rPr>
              <a:t>추천 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지금은 취향만 학습 — 앞으로는 더 많은 것을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현재 구현의 한계와 개선 가능성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212080" cy="5212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21208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배달의민족 주아"/>
              </a:rPr>
              <a:t>지금 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568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01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카테고리 7차원 One-hot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피드백으로 θ 업데이트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34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791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Softmax 확률 변환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718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로짓 → 선호 확률 분포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112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564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Temperature Softmax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490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필터 버블 방지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288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336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Temporal Decay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262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취향 변화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4663440" cy="658368"/>
          </a:xfrm>
          <a:prstGeom prst="roundRect">
            <a:avLst/>
          </a:prstGeom>
          <a:solidFill>
            <a:srgbClr val="DCF5EB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0657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배달의민족 주아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109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Dirichlet Floor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035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배달의민족 주아"/>
              </a:rPr>
              <a:t>0% 카테고리 방지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143000"/>
            <a:ext cx="5760720" cy="5212080"/>
          </a:xfrm>
          <a:prstGeom prst="round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143000"/>
            <a:ext cx="5760720" cy="63500"/>
          </a:xfrm>
          <a:prstGeom prst="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6FD4"/>
                </a:solidFill>
                <a:latin typeface="배달의민족 주아"/>
              </a:rPr>
              <a:t>개선 방향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828800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920240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날씨 × 개인 패턴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22128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비 오는 날 이 유저가 실제로 뭘 먹었나?
→ 개인별 날씨-카테고리 패턴 학습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2907792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299923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962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시간대 × 개인 패턴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이 유저의 저녁 식사 카테고리 패턴
→ 시간별 개인화 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986784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4078224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4041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감정 × 식욕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3708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일기 데이터 연동 — 스트레스 날 패턴
→ 감정 상태에 맞는 추천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5065776"/>
            <a:ext cx="53949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9632" y="5157216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배달의민족 주아"/>
              </a:rPr>
              <a:t>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FD4"/>
                </a:solidFill>
                <a:latin typeface="배달의민족 주아"/>
              </a:rPr>
              <a:t>거리·가격 선호도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544982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이 유저가 선택한 식당의 거리·가격대
→ 상황 맞춤 필터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473952"/>
            <a:ext cx="11274552" cy="274320"/>
          </a:xfrm>
          <a:prstGeom prst="roundRect">
            <a:avLst/>
          </a:prstGeom>
          <a:solidFill>
            <a:srgbClr val="8B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510528"/>
            <a:ext cx="10908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배달의민족 주아"/>
              </a:rPr>
              <a:t>데이터가 충분히 쌓이면 — 상황까지 개인화된 추천이 가능해집니다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8/25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88"/>
                </a:solidFill>
                <a:latin typeface="배달의민족 주아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98448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배달의민족 주아"/>
              </a:rPr>
              <a:t>민수의 추천을 개선한 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6858000" cy="3175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2651760" cy="3200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265176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88888"/>
                </a:solidFill>
                <a:latin typeface="배달의민족 주아"/>
              </a:rPr>
              <a:t>기존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377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평점 기반 → 민수 취향 무시
→ 돈까스 원하는데 파스타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37673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423160"/>
            <a:ext cx="2651760" cy="32004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2423160"/>
            <a:ext cx="265176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25420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58BD4"/>
                </a:solidFill>
                <a:latin typeface="배달의민족 주아"/>
              </a:rPr>
              <a:t>Softmax 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3017520"/>
            <a:ext cx="2377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피드백 → θ 업데이트
→ 취향에 맞는 확률 분포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7" y="37673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23160"/>
            <a:ext cx="2651760" cy="32004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42316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420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01E"/>
                </a:solidFill>
                <a:latin typeface="배달의민족 주아"/>
              </a:rPr>
              <a:t>3가지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2377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Temperature (버블)
Decay (취향변화)
Floor (0% 방지)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37673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2423160"/>
            <a:ext cx="2651760" cy="320040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59" y="2423160"/>
            <a:ext cx="265176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25420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BD85"/>
                </a:solidFill>
                <a:latin typeface="배달의민족 주아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017520"/>
            <a:ext cx="23774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민수의 취향을 실시간 반영
RLHF와 같은 원리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79008"/>
            <a:ext cx="10908792" cy="9144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870448"/>
            <a:ext cx="105430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배달의민족 주아"/>
              </a:rPr>
              <a:t>사람의 선택이 그래디언트가 되어 확률 분포를 최적화하는
RLHF와 같은 원리의 온라인 학습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7/25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기존 추천 시스템의 방식들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민수가 만나게 되는 일반적인 추천 알고리즘들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74320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635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평점·인기도 기반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2377440" cy="10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별점 높은 식당을 순서대로 보여줌
대부분의 배달앱 기본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모든 사람에게 동일한 추천
→ 개인 취향 반영 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1097280"/>
            <a:ext cx="2743200" cy="41148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0128" y="1097280"/>
            <a:ext cx="2743200" cy="6350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협업 필터링
(Collaborative Filtering)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2788920"/>
            <a:ext cx="2377440" cy="10160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비슷한 취향의 사람이 먹은 것을 추천
"A·B가 돈까스 좋아하면 C에게도 추천"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신규 유저 Cold Start
데이터 적으면 부정확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097280"/>
            <a:ext cx="2743200" cy="41148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1097280"/>
            <a:ext cx="274320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콘텐츠 기반 필터링
(Content-based)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7376" y="2788920"/>
            <a:ext cx="2377440" cy="1016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좋아했던 음식과 비슷한 속성 추천
돈까스(튀김) → 치킨(튀김) 추천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45936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새 카테고리 발견 어려움
취향 변화 반영 느림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98864" y="1097280"/>
            <a:ext cx="2743200" cy="4114800"/>
          </a:xfrm>
          <a:prstGeom prst="roundRect">
            <a:avLst/>
          </a:prstGeom>
          <a:solidFill>
            <a:srgbClr val="D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98864" y="1097280"/>
            <a:ext cx="2743200" cy="6350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8864" y="1261872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222"/>
                </a:solidFill>
                <a:latin typeface="배달의민족 주아"/>
              </a:rPr>
              <a:t>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21488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배달의민족 주아"/>
              </a:rPr>
              <a:t>규칙 기반
(Rule-based)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81744" y="2788920"/>
            <a:ext cx="2377440" cy="10160"/>
          </a:xfrm>
          <a:prstGeom prst="rect">
            <a:avLst/>
          </a:prstGeom>
          <a:solidFill>
            <a:srgbClr val="3AB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285292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배달의민족 주아"/>
              </a:rPr>
              <a:t>"저녁엔 한식" 등 하드코딩된 규칙
운영자가 직접 규칙 작성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0304" y="3749039"/>
            <a:ext cx="2560320" cy="9144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1744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배달의민족 주아"/>
              </a:rPr>
              <a:t>문제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81744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5C5C"/>
                </a:solidFill>
                <a:latin typeface="배달의민족 주아"/>
              </a:rPr>
              <a:t>개인차 반영 불가
규칙 늘수록 관리 어려움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321808"/>
            <a:ext cx="11457432" cy="91440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40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88"/>
                </a:solidFill>
                <a:latin typeface="배달의민족 주아"/>
              </a:rPr>
              <a:t>공통 문제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440680"/>
            <a:ext cx="9445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배달의민족 주아"/>
              </a:rPr>
              <a:t>실시간으로 개인 취향을 학습하고 즉시 반영하기 어렵습니다  →  민수에게 맞는 추천 불가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806440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배달의민족 주아"/>
              </a:rPr>
              <a:t>모든 방식이 '지금 이 사람이 무엇을 원하는지'를 실시간으로 알 수 없다는 한계가 있습니다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3/25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그럼 TensorFlow로 분류 모델을 만들어보면?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Keras Sequential — 카테고리 선호도를 학습하는 신경망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1737360" cy="5029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배달의민족 주아"/>
              </a:rPr>
              <a:t>입력층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7개 숫자
(One-hot)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971800"/>
            <a:ext cx="274320" cy="27432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977640"/>
            <a:ext cx="274320" cy="27432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4983480"/>
            <a:ext cx="274320" cy="27432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429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1143000"/>
            <a:ext cx="1737360" cy="50292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01E"/>
                </a:solidFill>
                <a:latin typeface="배달의민족 주아"/>
              </a:rPr>
              <a:t>은닉층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Dense(32)
ReLU</a:t>
            </a:r>
          </a:p>
        </p:txBody>
      </p:sp>
      <p:sp>
        <p:nvSpPr>
          <p:cNvPr id="16" name="Oval 15"/>
          <p:cNvSpPr/>
          <p:nvPr/>
        </p:nvSpPr>
        <p:spPr>
          <a:xfrm>
            <a:off x="2971800" y="2636520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1800" y="3307080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71800" y="3977640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71800" y="4648200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71800" y="5318760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429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1143000"/>
            <a:ext cx="1737360" cy="502920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01E"/>
                </a:solidFill>
                <a:latin typeface="배달의민족 주아"/>
              </a:rPr>
              <a:t>은닉층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Dense(16)
ReLU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2770632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92040" y="3575304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92040" y="4379976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92040" y="5184648"/>
            <a:ext cx="274320" cy="274320"/>
          </a:xfrm>
          <a:prstGeom prst="ellipse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429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DDDDD"/>
                </a:solidFill>
                <a:latin typeface="배달의민족 주아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1143000"/>
            <a:ext cx="1737360" cy="50292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216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58BD4"/>
                </a:solidFill>
                <a:latin typeface="배달의민족 주아"/>
              </a:rPr>
              <a:t>출력층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배달의민족 주아"/>
              </a:rPr>
              <a:t>Dense(7)
Softmax</a:t>
            </a:r>
          </a:p>
        </p:txBody>
      </p:sp>
      <p:sp>
        <p:nvSpPr>
          <p:cNvPr id="33" name="Oval 32"/>
          <p:cNvSpPr/>
          <p:nvPr/>
        </p:nvSpPr>
        <p:spPr>
          <a:xfrm>
            <a:off x="6812280" y="2971800"/>
            <a:ext cx="274320" cy="274320"/>
          </a:xfrm>
          <a:prstGeom prst="ellipse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80" y="3977640"/>
            <a:ext cx="274320" cy="274320"/>
          </a:xfrm>
          <a:prstGeom prst="ellipse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4983480"/>
            <a:ext cx="274320" cy="274320"/>
          </a:xfrm>
          <a:prstGeom prst="ellipse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8BD4"/>
                </a:solidFill>
                <a:latin typeface="배달의민족 주아"/>
              </a:rPr>
              <a:t>예측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66420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분식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9408" y="1682496"/>
            <a:ext cx="777240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02368" y="166420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52%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2860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한식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79408" y="2304288"/>
            <a:ext cx="328832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53960" y="228600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22%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90779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양식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9408" y="2926080"/>
            <a:ext cx="149469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74597" y="290779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52958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중식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9408" y="3547872"/>
            <a:ext cx="89681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4809" y="3529584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151376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일식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79408" y="4169664"/>
            <a:ext cx="74734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9862" y="4151376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77316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디저트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79408" y="4791456"/>
            <a:ext cx="44840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69968" y="477316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39496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기타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79408" y="5413248"/>
            <a:ext cx="36576" cy="292608"/>
          </a:xfrm>
          <a:prstGeom prst="round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5021" y="539496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58BD4"/>
                </a:solidFill>
                <a:latin typeface="배달의민족 주아"/>
              </a:rPr>
              <a:t>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00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코드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693408"/>
            <a:ext cx="7589520" cy="126187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" y="6693408"/>
            <a:ext cx="45720" cy="1261872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" y="6784848"/>
            <a:ext cx="74066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model = tf.keras.Sequential([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tf.keras.layers.Dense(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  32, activation='relu', input_shape=(7,)),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tf.keras.layers.Dense(16, activation='relu'),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  tf.keras.layers.Dense(7,  activation='softmax')</a:t>
            </a:r>
          </a:p>
          <a:p>
            <a:r>
              <a:rPr sz="1100">
                <a:solidFill>
                  <a:srgbClr val="888888"/>
                </a:solidFill>
                <a:latin typeface="Consolas"/>
              </a:rPr>
              <a:t>])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TensorFlow 모델은 이렇게 학습합니다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배달의민족 주아"/>
              </a:rPr>
              <a:t>피드백 데이터를 모아서 한꺼번에 배치 학습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①  데이터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유저의 붐업·붐다운 피드백을
DB에 쌓아둡니다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88036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14300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14300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258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②  배치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8892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쌓인 데이터 전체를
model.fit()으로 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288036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4300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14300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258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③  가중치 업데이트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8892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역전파(backprop)로
1,104개 파라미터 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88036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88"/>
                </a:solidFill>
                <a:latin typeface="배달의민족 주아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143000"/>
            <a:ext cx="2651760" cy="402336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143000"/>
            <a:ext cx="2651760" cy="63500"/>
          </a:xfrm>
          <a:prstGeom prst="rect">
            <a:avLst/>
          </a:prstGeom>
          <a:solidFill>
            <a:srgbClr val="F5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3258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222"/>
                </a:solidFill>
                <a:latin typeface="배달의민족 주아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28600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배달의민족 주아"/>
              </a:rPr>
              <a:t>④  예측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78892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새 입력 → Softmax →
카테고리별 선호 확률 출력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76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배달의민족 주아"/>
              </a:rPr>
              <a:t>학습 코드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715000"/>
            <a:ext cx="5303520" cy="16642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715000"/>
            <a:ext cx="45720" cy="1664208"/>
          </a:xfrm>
          <a:prstGeom prst="rect">
            <a:avLst/>
          </a:prstGeom>
          <a:solidFill>
            <a:srgbClr val="3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806440"/>
            <a:ext cx="5120640" cy="148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onsolas"/>
              </a:rPr>
              <a:t>model.compile(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optimizer='adam',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loss='categorical_crossentropy',</a:t>
            </a:r>
          </a:p>
          <a:p>
            <a:r>
              <a:rPr sz="1100">
                <a:solidFill>
                  <a:srgbClr val="F5C518"/>
                </a:solidFill>
                <a:latin typeface="Consolas"/>
              </a:rPr>
              <a:t>    metrics=['accuracy'])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model.fit(X_train, y_train,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epochs=50,</a:t>
            </a:r>
          </a:p>
          <a:p>
            <a:r>
              <a:rPr sz="1100">
                <a:solidFill>
                  <a:srgbClr val="3ABD85"/>
                </a:solidFill>
                <a:latin typeface="Consolas"/>
              </a:rPr>
              <a:t>    batch_size=32)   # 쌓인 데이터 전체 학습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376672"/>
            <a:ext cx="5577840" cy="2011680"/>
          </a:xfrm>
          <a:prstGeom prst="roundRect">
            <a:avLst/>
          </a:prstGeom>
          <a:solidFill>
            <a:srgbClr val="FE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486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1E"/>
                </a:solidFill>
                <a:latin typeface="배달의민족 주아"/>
              </a:rPr>
              <a:t>재학습 주기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870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배달의민족 주아"/>
              </a:rPr>
              <a:t>매일 새벽 3시 / 매주 일요일 등 정해진 주기에 재학습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62362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01E"/>
                </a:solidFill>
                <a:latin typeface="배달의민족 주아"/>
              </a:rPr>
              <a:t>→ 그 사이에 받은 피드백은 반영되지 않습니다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6601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배달의민족 주아"/>
              </a:rPr>
              <a:t>민수가 오늘 돈까스 붐업을 눌러도 → 다음 재학습 때까지 추천이 바뀌지 않음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배달의민족 주아"/>
              </a:rPr>
              <a:t>그런데 TensorFlow 방식에 3가지 문제가 있었습니다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83112" cy="15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3611880" cy="512064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61188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11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222"/>
                </a:solidFill>
                <a:latin typeface="배달의민족 주아"/>
              </a:rPr>
              <a:t>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배달의민족 주아"/>
              </a:rPr>
              <a:t>Cold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07792"/>
            <a:ext cx="3063240" cy="101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방금 가입했다면
피드백 데이터가 0개
model.fit()은 학습할 데이터가
없으면 동작 불가
→ 신규 유저 추천 불가능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611880" cy="512064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61188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3611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222"/>
                </a:solidFill>
                <a:latin typeface="배달의민족 주아"/>
              </a:rPr>
              <a:t>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배달의민족 주아"/>
              </a:rPr>
              <a:t>실시간 반영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907792"/>
            <a:ext cx="3063240" cy="101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999232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지금 돈까스 붐업을 눌러도
다음 재학습 때까지 변화 없음
점심에 눌렀는데
저녁 추천에도 파스타가 나옴
→ 즉각 반응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43000"/>
            <a:ext cx="3611880" cy="512064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43000"/>
            <a:ext cx="3611880" cy="635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325880"/>
            <a:ext cx="3611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222"/>
                </a:solidFill>
                <a:latin typeface="배달의민족 주아"/>
              </a:rP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95728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배달의민족 주아"/>
              </a:rPr>
              <a:t>데이터 불균형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907792"/>
            <a:ext cx="3063240" cy="101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999232"/>
            <a:ext cx="3337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배달의민족 주아"/>
              </a:rPr>
              <a:t>민수가 분식만 먹으면
다른 카테고리 학습 데이터 없음
'일식 먹고 싶다'고 해도
모델이 일식 예측 못함
→ 취향 왜곡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382512"/>
            <a:ext cx="11274552" cy="34747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28232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배달의민족 주아"/>
              </a:rPr>
              <a:t>→  TensorFlow 그대로는 실시간 개인화가 어렵다는 결론  →  다른 방법이 필요합니다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배달의민족 주아"/>
              </a:rPr>
              <a:t>25/25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