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7" r:id="rId4"/>
    <p:sldId id="258" r:id="rId5"/>
    <p:sldId id="259" r:id="rId6"/>
    <p:sldId id="278" r:id="rId7"/>
    <p:sldId id="279" r:id="rId8"/>
    <p:sldId id="281" r:id="rId9"/>
    <p:sldId id="260" r:id="rId10"/>
    <p:sldId id="261" r:id="rId11"/>
    <p:sldId id="262" r:id="rId12"/>
    <p:sldId id="263" r:id="rId13"/>
    <p:sldId id="280" r:id="rId14"/>
    <p:sldId id="264" r:id="rId15"/>
    <p:sldId id="265" r:id="rId16"/>
    <p:sldId id="283" r:id="rId17"/>
    <p:sldId id="266" r:id="rId18"/>
    <p:sldId id="267" r:id="rId19"/>
    <p:sldId id="282" r:id="rId20"/>
    <p:sldId id="268" r:id="rId21"/>
    <p:sldId id="269" r:id="rId22"/>
    <p:sldId id="270" r:id="rId23"/>
    <p:sldId id="271" r:id="rId24"/>
    <p:sldId id="276" r:id="rId25"/>
    <p:sldId id="272" r:id="rId26"/>
    <p:sldId id="274" r:id="rId27"/>
    <p:sldId id="273" r:id="rId28"/>
    <p:sldId id="275" r:id="rId29"/>
  </p:sldIdLst>
  <p:sldSz cx="12188825" cy="6858000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맑은 고딕" panose="020B0503020000020004" pitchFamily="50" charset="-127"/>
      <p:regular r:id="rId36"/>
      <p:bold r:id="rId37"/>
    </p:embeddedFont>
    <p:embeddedFont>
      <p:font typeface="배달의민족 주아" panose="02020603020101020101" pitchFamily="18" charset="-127"/>
      <p:regular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85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8AF60-779D-491B-8446-55E6520CB630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4F22C-E1D6-4E06-8C2A-68171C6295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484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222222"/>
                </a:solidFill>
                <a:latin typeface="배달의민족 주아"/>
              </a:rPr>
              <a:t>ML 사용자 선호도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58BD4"/>
                </a:solidFill>
                <a:latin typeface="배달의민족 주아"/>
              </a:rPr>
              <a:t>Softmax 기반 음식 추천 개인화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2743200" cy="381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배달의민족 주아"/>
              </a:rPr>
              <a:t>먹구름 AI 비서 프로젝트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민수를 소개합니다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우리 시스템의 테스트 유저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840480" cy="539496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1165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2222"/>
                </a:solidFill>
                <a:latin typeface="배달의민족 주아"/>
              </a:rPr>
              <a:t>민수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음식을 정말 좋아하는 평범한 직장인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24300"/>
            <a:ext cx="3291840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9654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제일 좋아하는 음식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58BD4"/>
                </a:solidFill>
                <a:latin typeface="배달의민족 주아"/>
              </a:rPr>
              <a:t>🍱 돈까스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451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(분식 카테고리)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109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그 외 좋아하는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218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삼겹살 🥩  |  김치찌개 🍲  |  제육볶음 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09728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배달의민족 주아"/>
              </a:rPr>
              <a:t>민수의 실제 선호도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48132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(우리 시스템이 최종적으로 학습해야 할 목표)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🍱 분식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58BD4"/>
                </a:solidFill>
                <a:latin typeface="배달의민족 주아"/>
              </a:rPr>
              <a:t>★★★★★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048256"/>
            <a:ext cx="3200400" cy="347472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37392" y="20482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🍲 한식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BD85"/>
                </a:solidFill>
                <a:latin typeface="배달의민족 주아"/>
              </a:rPr>
              <a:t>★★★★☆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2779776"/>
            <a:ext cx="1173480" cy="347472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10472" y="27797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22%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🍝 양식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★★☆☆☆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3511296"/>
            <a:ext cx="426720" cy="34747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3712" y="35112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🍜 중식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★★☆☆☆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242816"/>
            <a:ext cx="266700" cy="34747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03692" y="42428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🍣 일식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★☆☆☆☆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974336"/>
            <a:ext cx="160020" cy="34747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97012" y="49743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669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🍰 디저트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669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★☆☆☆☆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5705856"/>
            <a:ext cx="106680" cy="34747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3672" y="57058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052E4F79-E609-815E-0FA1-E551D0353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3407" y="871728"/>
            <a:ext cx="2808066" cy="28080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기존 추천 시스템의 방식들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민수가 만나게 되는 일반적인 추천 알고리즘들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743200" cy="4114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635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222"/>
                </a:solidFill>
                <a:latin typeface="배달의민족 주아"/>
              </a:rPr>
              <a:t>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평점·인기도 기반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2377440" cy="10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배달의민족 주아"/>
              </a:rPr>
              <a:t>별점 높은 식당을 순서대로 보여줌
대부분의 배달앱 기본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256032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모든 사람에게 동일한 추천
→ 개인 취향 반영 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1097280"/>
            <a:ext cx="2743200" cy="411480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0128" y="1097280"/>
            <a:ext cx="274320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0128" y="1261872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222"/>
                </a:solidFill>
                <a:latin typeface="배달의민족 주아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1488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협업 필터링
(Collaborative Filtering)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2788920"/>
            <a:ext cx="2377440" cy="1016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01568" y="28529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배달의민족 주아"/>
              </a:rPr>
              <a:t>비슷한 취향의 사람이 먹은 것을 추천
"A·B가 돈까스 좋아하면 C에게도 추천"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3749039"/>
            <a:ext cx="256032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93008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신규 유저 Cold Start
데이터 적으면 부정확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097280"/>
            <a:ext cx="2743200" cy="41148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54496" y="1097280"/>
            <a:ext cx="274320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54496" y="1261872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222"/>
                </a:solidFill>
                <a:latin typeface="배달의민족 주아"/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1488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콘텐츠 기반 필터링
(Content-based)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37376" y="2788920"/>
            <a:ext cx="2377440" cy="1016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45936" y="28529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배달의민족 주아"/>
              </a:rPr>
              <a:t>좋아했던 음식과 비슷한 속성 추천
돈까스(튀김) → 치킨(튀김) 추천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45936" y="3749039"/>
            <a:ext cx="256032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7376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새 카테고리 발견 어려움
취향 변화 반영 느림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98864" y="1097280"/>
            <a:ext cx="2743200" cy="4114800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98864" y="1097280"/>
            <a:ext cx="274320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98864" y="1261872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222"/>
                </a:solidFill>
                <a:latin typeface="배달의민족 주아"/>
              </a:rPr>
              <a:t>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21488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규칙 기반
(Rule-based)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81744" y="2788920"/>
            <a:ext cx="2377440" cy="1016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0304" y="28529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배달의민족 주아"/>
              </a:rPr>
              <a:t>"저녁엔 한식" 등 하드코딩된 규칙
운영자가 직접 규칙 작성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90304" y="3749039"/>
            <a:ext cx="256032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81744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81744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개인차 반영 불가
규칙 늘수록 관리 어려움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550409"/>
            <a:ext cx="11457432" cy="91440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566928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공통 문제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669281"/>
            <a:ext cx="9445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배달의민족 주아"/>
              </a:rPr>
              <a:t>실시간으로 개인 취향을 학습하고 즉시 반영하기 어렵습니다  →  민수에게 맞는 추천 불가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6035041"/>
            <a:ext cx="9445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모든 방식이 '지금 이 사람이 무엇을 원하는지'를 실시간으로 알 수 없다는 한계가 있습니다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기존 추천 방식 — 민수에게 추천해보면?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규칙 기반 / 랜덤 순서로 식당 목록 반환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5394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88888"/>
                </a:solidFill>
                <a:latin typeface="배달의민족 주아"/>
              </a:rPr>
              <a:t>  민수에게 추천된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(DB 순서 / 평점 기준)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49377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305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🍝 파스타집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3055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양식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3055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⭐ 4.8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61488"/>
            <a:ext cx="49377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80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🍣 스시로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803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8803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⭐ 4.7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11296"/>
            <a:ext cx="49377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301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301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🍕 피자헛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301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양식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6301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⭐ 4.6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61104"/>
            <a:ext cx="49377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3799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#4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799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🌮 타코벨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3799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양식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3799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⭐ 4.5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010912"/>
            <a:ext cx="49377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12978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#5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1297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🍜 마라탕집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12978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12978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⭐ 4.4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1097280"/>
            <a:ext cx="5029200" cy="53949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22592" y="1229868"/>
            <a:ext cx="4663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5C5C"/>
                </a:solidFill>
                <a:latin typeface="배달의민족 주아"/>
              </a:rPr>
              <a:t> 민수가 원했던 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2011680"/>
            <a:ext cx="4663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0" y="213055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C5C"/>
                </a:solidFill>
                <a:latin typeface="배달의민족 주아"/>
              </a:rPr>
              <a:t>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1305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🍱 돈까스집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213055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분식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213055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최애!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2761488"/>
            <a:ext cx="4663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49440" y="288036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C5C"/>
                </a:solidFill>
                <a:latin typeface="배달의민족 주아"/>
              </a:rPr>
              <a:t>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2880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🍲 순대국밥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288036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288036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자주 먹음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3511296"/>
            <a:ext cx="4663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49440" y="363016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C5C"/>
                </a:solidFill>
                <a:latin typeface="배달의민족 주아"/>
              </a:rPr>
              <a:t>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36301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🥩 삼겹살집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363016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36301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좋아함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0" y="4261104"/>
            <a:ext cx="4663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49440" y="43799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C5C"/>
                </a:solidFill>
                <a:latin typeface="배달의민족 주아"/>
              </a:rPr>
              <a:t>4위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43799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🍖 제육볶음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4379976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437997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좋아함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0" y="5010912"/>
            <a:ext cx="4663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949440" y="512978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C5C"/>
                </a:solidFill>
                <a:latin typeface="배달의민족 주아"/>
              </a:rPr>
              <a:t>5위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51297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🍜 라면집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60" y="512978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분식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512978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좋아함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핵심 문제 — 시스템이 민수를 모른다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추천 시스템이 개인의 취향을 학습해야 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109728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5C5C"/>
                </a:solidFill>
                <a:latin typeface="배달의민족 주아"/>
              </a:rPr>
              <a:t>양식 4.8점  &gt;  분식 4.2점  →  파스타집이 1위?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배달의민족 주아"/>
              </a:rPr>
              <a:t>민수한테는 돈까스집 4.2점이 파스타집 4.8점보다 훨씬 먹고 싶은데...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3474720" cy="3200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347472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배달의민족 주아"/>
              </a:rPr>
              <a:t>평점은 대중의 취향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58768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모든 사람의 평균 평점
민수 개인의 취향과 다름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2560320" cy="43891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718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개인화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331720"/>
            <a:ext cx="3474720" cy="3200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2331720"/>
            <a:ext cx="347472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2468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6499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배달의민족 주아"/>
              </a:rPr>
              <a:t>카테고리 무시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58768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한식/분식/양식 선호도
전혀 고려 안 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663440"/>
            <a:ext cx="2560320" cy="43891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4718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취향 반영 없음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331720"/>
            <a:ext cx="3474720" cy="3200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79" y="2331720"/>
            <a:ext cx="347472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2468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336499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배달의민족 주아"/>
              </a:rPr>
              <a:t>학습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3858768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민수가 붐업·붐다운 해도
다음에 달라지지 않음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79" y="4663440"/>
            <a:ext cx="2560320" cy="43891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9" y="4718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피드백 무시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623560"/>
            <a:ext cx="11247120" cy="100584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7424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7424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배달의민족 주아"/>
              </a:rPr>
              <a:t>민수가 어떤 음식을 좋아하는지 학습하고, 그에 맞는 식당을 추천하자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60807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피드백(붐업/붐다운/월드컵)을 통해 개인 취향을 실시간으로 학습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그럼 TensorFlow로 분류 모델을 만들어보면?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Keras Sequential — 카테고리 선호도를 학습하는 신경망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1737360" cy="5029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16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배달의민족 주아"/>
              </a:rPr>
              <a:t>입력층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배달의민족 주아"/>
              </a:rPr>
              <a:t>7개 숫자
(One-hot)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1143000"/>
            <a:ext cx="1737360" cy="50292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0280" y="1216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A01E"/>
                </a:solidFill>
                <a:latin typeface="배달의민족 주아"/>
              </a:rPr>
              <a:t>은닉층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배달의민족 주아"/>
              </a:rPr>
              <a:t>Dense(32)
ReLU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1143000"/>
            <a:ext cx="1737360" cy="50292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1216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A01E"/>
                </a:solidFill>
                <a:latin typeface="배달의민족 주아"/>
              </a:rPr>
              <a:t>은닉층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배달의민족 주아"/>
              </a:rPr>
              <a:t>Dense(16)
ReLU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1143000"/>
            <a:ext cx="1737360" cy="502920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0760" y="1216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58BD4"/>
                </a:solidFill>
                <a:latin typeface="배달의민족 주아"/>
              </a:rPr>
              <a:t>출력층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배달의민족 주아"/>
              </a:rPr>
              <a:t>Dense(7)
Softmax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예측 결과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166420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분식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9408" y="1682496"/>
            <a:ext cx="777240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02368" y="1664208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52%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228600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79408" y="2304288"/>
            <a:ext cx="328832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53960" y="228600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22%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290779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양식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9408" y="2926080"/>
            <a:ext cx="149469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74597" y="290779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52958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9408" y="3547872"/>
            <a:ext cx="89681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14809" y="3529584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15137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79408" y="4169664"/>
            <a:ext cx="74734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99862" y="4151376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77316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79408" y="4791456"/>
            <a:ext cx="44840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69968" y="4773168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39496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기타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79408" y="5413248"/>
            <a:ext cx="36576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055021" y="539496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698" y="34930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코드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4698" y="3785616"/>
            <a:ext cx="7217722" cy="126187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64698" y="3785616"/>
            <a:ext cx="45720" cy="1261872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4426" y="3877056"/>
            <a:ext cx="704380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model = tf.keras.Sequential([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tf.keras.layers.Dense(</a:t>
            </a:r>
            <a:r>
              <a:rPr sz="1100">
                <a:solidFill>
                  <a:srgbClr val="F5C518"/>
                </a:solidFill>
                <a:latin typeface="Consolas"/>
              </a:rPr>
              <a:t>32, activation='relu', input_shape=(7)),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tf.keras.layers.Dense(16, activation='relu'),</a:t>
            </a:r>
          </a:p>
          <a:p>
            <a:r>
              <a:rPr sz="1100">
                <a:solidFill>
                  <a:srgbClr val="3ABD85"/>
                </a:solidFill>
                <a:latin typeface="Consolas"/>
              </a:rPr>
              <a:t>  tf.keras.layers.Dense(7,  activation='softmax')</a:t>
            </a: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TensorFlow 모델은 이렇게 학습합니다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피드백 데이터를 모아서 한꺼번에 배치 학습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706880"/>
            <a:ext cx="2651760" cy="402336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06880"/>
            <a:ext cx="265176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8976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498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배달의민족 주아"/>
              </a:rPr>
              <a:t>①  데이터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5280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유저의 붐업·붐다운 피드백을
DB에 쌓아둡니다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34442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706880"/>
            <a:ext cx="2651760" cy="402336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1706880"/>
            <a:ext cx="265176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88976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498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배달의민족 주아"/>
              </a:rPr>
              <a:t>②  배치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5280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쌓인 데이터 전체를
model.fit()으로 학습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4442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06880"/>
            <a:ext cx="2651760" cy="402336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706880"/>
            <a:ext cx="265176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88976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498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배달의민족 주아"/>
              </a:rPr>
              <a:t>③  가중치 업데이트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5280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역전파(backprop)로
1,104개 파라미터 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34442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706880"/>
            <a:ext cx="2651760" cy="402336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0" y="1706880"/>
            <a:ext cx="265176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188976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8498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배달의민족 주아"/>
              </a:rPr>
              <a:t>④  예측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35280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새 입력 → Softmax →
카테고리별 선호 확률 출력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3F503-08C0-3BDE-51CF-DEDC5A9F3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FA1EA-54F5-1038-39C9-6C8C61CE07E3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1124A-07CC-7D05-36D4-9863BCD51BCF}"/>
              </a:ext>
            </a:extLst>
          </p:cNvPr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TensorFlow 모델은 이렇게 학습합니다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18A30-D3DC-FDBB-1464-B2E9CE113110}"/>
              </a:ext>
            </a:extLst>
          </p:cNvPr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피드백 데이터를 모아서 한꺼번에 배치 학습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1EFFC-47FA-B7E2-676D-DEAB73AD02A3}"/>
              </a:ext>
            </a:extLst>
          </p:cNvPr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8285EC-74AC-B0B3-934B-3AA20F42DE36}"/>
              </a:ext>
            </a:extLst>
          </p:cNvPr>
          <p:cNvSpPr txBox="1"/>
          <p:nvPr/>
        </p:nvSpPr>
        <p:spPr>
          <a:xfrm>
            <a:off x="502920" y="11323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학습 코드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2C9470-E5A5-3132-610F-56F33380C2B5}"/>
              </a:ext>
            </a:extLst>
          </p:cNvPr>
          <p:cNvSpPr/>
          <p:nvPr/>
        </p:nvSpPr>
        <p:spPr>
          <a:xfrm>
            <a:off x="502920" y="1470660"/>
            <a:ext cx="7688580" cy="166420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6A49BA-ED89-BF2C-7F1E-A49C910D378D}"/>
              </a:ext>
            </a:extLst>
          </p:cNvPr>
          <p:cNvSpPr/>
          <p:nvPr/>
        </p:nvSpPr>
        <p:spPr>
          <a:xfrm>
            <a:off x="502919" y="1470660"/>
            <a:ext cx="66281" cy="1664208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F46908-AEDF-257D-C941-FE3388A747FA}"/>
              </a:ext>
            </a:extLst>
          </p:cNvPr>
          <p:cNvSpPr txBox="1"/>
          <p:nvPr/>
        </p:nvSpPr>
        <p:spPr>
          <a:xfrm>
            <a:off x="612647" y="1562100"/>
            <a:ext cx="742345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model.compile(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optimizer='adam',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loss='categorical_crossentropy',</a:t>
            </a:r>
            <a:r>
              <a:rPr lang="en-US" sz="1100">
                <a:solidFill>
                  <a:srgbClr val="F5C518"/>
                </a:solidFill>
                <a:latin typeface="Consolas"/>
              </a:rPr>
              <a:t> </a:t>
            </a:r>
            <a:r>
              <a:rPr sz="1100">
                <a:solidFill>
                  <a:srgbClr val="F5C518"/>
                </a:solidFill>
                <a:latin typeface="Consolas"/>
              </a:rPr>
              <a:t>metrics=['accuracy'])</a:t>
            </a:r>
          </a:p>
          <a:p>
            <a:endParaRPr sz="1100">
              <a:solidFill>
                <a:srgbClr val="F5C518"/>
              </a:solidFill>
              <a:latin typeface="Consolas"/>
            </a:endParaRP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model.fit(X_train, y_train,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epochs=50,</a:t>
            </a:r>
          </a:p>
          <a:p>
            <a:r>
              <a:rPr sz="1100">
                <a:solidFill>
                  <a:srgbClr val="3ABD85"/>
                </a:solidFill>
                <a:latin typeface="Consolas"/>
              </a:rPr>
              <a:t>    batch_size=32)   # 쌓인 데이터 전체 학습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E8546CA-FE3C-2703-9C0F-DD3BBAA217F5}"/>
              </a:ext>
            </a:extLst>
          </p:cNvPr>
          <p:cNvSpPr/>
          <p:nvPr/>
        </p:nvSpPr>
        <p:spPr>
          <a:xfrm>
            <a:off x="569199" y="3497580"/>
            <a:ext cx="7622299" cy="188976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FE66F1-1B28-5208-F03F-651F48808192}"/>
              </a:ext>
            </a:extLst>
          </p:cNvPr>
          <p:cNvSpPr txBox="1"/>
          <p:nvPr/>
        </p:nvSpPr>
        <p:spPr>
          <a:xfrm>
            <a:off x="752080" y="3584447"/>
            <a:ext cx="85059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01E"/>
                </a:solidFill>
                <a:latin typeface="배달의민족 주아"/>
              </a:rPr>
              <a:t>재학습 주기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593B60-D1E4-F167-76E4-2ADFAA8839EA}"/>
              </a:ext>
            </a:extLst>
          </p:cNvPr>
          <p:cNvSpPr txBox="1"/>
          <p:nvPr/>
        </p:nvSpPr>
        <p:spPr>
          <a:xfrm>
            <a:off x="752080" y="3991355"/>
            <a:ext cx="8505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매일 새벽 3시 / 매주 일요일 등 정해진 주기에 재학습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21CFB9-F4F2-C5C6-F24C-42AEDABDA1C7}"/>
              </a:ext>
            </a:extLst>
          </p:cNvPr>
          <p:cNvSpPr txBox="1"/>
          <p:nvPr/>
        </p:nvSpPr>
        <p:spPr>
          <a:xfrm>
            <a:off x="569200" y="4366187"/>
            <a:ext cx="8505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01E"/>
                </a:solidFill>
                <a:latin typeface="배달의민족 주아"/>
              </a:rPr>
              <a:t>→ 그 사이에 받은 피드백은 반영되지 않습니다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95FD11-F664-49CA-78DA-329635A252F6}"/>
              </a:ext>
            </a:extLst>
          </p:cNvPr>
          <p:cNvSpPr txBox="1"/>
          <p:nvPr/>
        </p:nvSpPr>
        <p:spPr>
          <a:xfrm>
            <a:off x="752080" y="4722875"/>
            <a:ext cx="8505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배달의민족 주아"/>
              </a:rPr>
              <a:t>민수가 오늘 돈까스 붐업을 눌러도 → 다음 재학습 때까지 추천이 바뀌지 않음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2BE04532-067D-6DE3-B306-C64C05820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659" y="2172753"/>
            <a:ext cx="3308778" cy="273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8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Softmax — 점수를 확률 분포로 변환하는 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여러 선택지 중 각각의 확률을 합이 1이 되도록 표현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수식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155680" cy="804672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5800" y="1627632"/>
                <a:ext cx="7315200" cy="438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b="1">
                    <a:solidFill>
                      <a:srgbClr val="358BD4"/>
                    </a:solidFill>
                    <a:latin typeface="배달의민족 주아"/>
                  </a:rPr>
                  <a:t>P(i) = exp(</a:t>
                </a:r>
                <a14:m>
                  <m:oMath xmlns:m="http://schemas.openxmlformats.org/officeDocument/2006/math">
                    <m:r>
                      <a:rPr lang="el-GR" sz="22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200" b="1">
                    <a:solidFill>
                      <a:srgbClr val="358BD4"/>
                    </a:solidFill>
                    <a:latin typeface="배달의민족 주아"/>
                  </a:rPr>
                  <a:t>ᵢ) / </a:t>
                </a:r>
                <a14:m>
                  <m:oMath xmlns:m="http://schemas.openxmlformats.org/officeDocument/2006/math">
                    <m:r>
                      <a:rPr lang="el-GR" sz="2200" b="1" i="0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sz="22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ⱼ </m:t>
                    </m:r>
                  </m:oMath>
                </a14:m>
                <a:r>
                  <a:rPr lang="en-US" sz="2200" b="1">
                    <a:solidFill>
                      <a:srgbClr val="358BD4"/>
                    </a:solidFill>
                    <a:latin typeface="배달의민족 주아"/>
                  </a:rPr>
                  <a:t>exp(</a:t>
                </a:r>
                <a14:m>
                  <m:oMath xmlns:m="http://schemas.openxmlformats.org/officeDocument/2006/math">
                    <m:r>
                      <a:rPr lang="el-GR" sz="22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200" b="1">
                    <a:solidFill>
                      <a:srgbClr val="358BD4"/>
                    </a:solidFill>
                    <a:latin typeface="배달의민족 주아"/>
                  </a:rPr>
                  <a:t>ⱼ)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27632"/>
                <a:ext cx="7315200" cy="438069"/>
              </a:xfrm>
              <a:prstGeom prst="rect">
                <a:avLst/>
              </a:prstGeom>
              <a:blipFill>
                <a:blip r:embed="rId2"/>
                <a:stretch>
                  <a:fillRect l="-1083" t="-13889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8001000" y="1681674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888888"/>
                </a:solidFill>
                <a:latin typeface="배달의민족 주아"/>
              </a:rPr>
              <a:t>θ = </a:t>
            </a:r>
            <a:r>
              <a:rPr sz="2000" b="0" dirty="0" err="1">
                <a:solidFill>
                  <a:srgbClr val="888888"/>
                </a:solidFill>
                <a:latin typeface="배달의민족 주아"/>
              </a:rPr>
              <a:t>카테고리별</a:t>
            </a:r>
            <a:r>
              <a:rPr sz="2000" b="0" dirty="0">
                <a:solidFill>
                  <a:srgbClr val="888888"/>
                </a:solidFill>
                <a:latin typeface="배달의민족 주아"/>
              </a:rPr>
              <a:t> </a:t>
            </a:r>
            <a:r>
              <a:rPr sz="2000" b="0" dirty="0" err="1">
                <a:solidFill>
                  <a:srgbClr val="888888"/>
                </a:solidFill>
                <a:latin typeface="배달의민족 주아"/>
              </a:rPr>
              <a:t>점수</a:t>
            </a:r>
            <a:r>
              <a:rPr sz="2000" b="0" dirty="0">
                <a:solidFill>
                  <a:srgbClr val="888888"/>
                </a:solidFill>
                <a:latin typeface="배달의민족 주아"/>
              </a:rPr>
              <a:t> (</a:t>
            </a:r>
            <a:r>
              <a:rPr sz="2000" b="0" dirty="0" err="1">
                <a:solidFill>
                  <a:srgbClr val="888888"/>
                </a:solidFill>
                <a:latin typeface="배달의민족 주아"/>
              </a:rPr>
              <a:t>로짓</a:t>
            </a:r>
            <a:r>
              <a:rPr sz="2000" b="0" dirty="0">
                <a:solidFill>
                  <a:srgbClr val="888888"/>
                </a:solidFill>
                <a:latin typeface="배달의민족 주아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예시 — 로짓 점수를 넣으면 확률이 나옵니다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분식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양식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기타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54680"/>
            <a:ext cx="1234440" cy="658368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480060" y="3296299"/>
            <a:ext cx="1234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배달의민족 주아"/>
              </a:rPr>
              <a:t>로짓 점수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1304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1828800" y="329184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배달의민족 주아"/>
              </a:rPr>
              <a:t>+3.5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3246120" y="329184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배달의민족 주아"/>
              </a:rPr>
              <a:t>+2.1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4663440" y="329184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배달의민족 주아"/>
              </a:rPr>
              <a:t>+0.4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6080760" y="329184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배달의민족 주아"/>
              </a:rPr>
              <a:t>-0.6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7498080" y="329184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배달의민족 주아"/>
              </a:rPr>
              <a:t>-0.3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8915400" y="329184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배달의민족 주아"/>
              </a:rPr>
              <a:t>+0.0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4" name="TextBox 33"/>
          <p:cNvSpPr txBox="1"/>
          <p:nvPr/>
        </p:nvSpPr>
        <p:spPr>
          <a:xfrm>
            <a:off x="10332720" y="329184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배달의민족 주아"/>
              </a:rPr>
              <a:t>-0.5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160520"/>
            <a:ext cx="1234440" cy="658368"/>
          </a:xfrm>
          <a:prstGeom prst="round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6" name="TextBox 35"/>
          <p:cNvSpPr txBox="1"/>
          <p:nvPr/>
        </p:nvSpPr>
        <p:spPr>
          <a:xfrm>
            <a:off x="480060" y="4311170"/>
            <a:ext cx="1234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배달의민족 주아"/>
              </a:rPr>
              <a:t>exp() 적용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81888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9" name="TextBox 38"/>
          <p:cNvSpPr txBox="1"/>
          <p:nvPr/>
        </p:nvSpPr>
        <p:spPr>
          <a:xfrm>
            <a:off x="1828800" y="429768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01E"/>
                </a:solidFill>
                <a:latin typeface="배달의민족 주아"/>
              </a:rPr>
              <a:t>33.1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4612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1" name="TextBox 40"/>
          <p:cNvSpPr txBox="1"/>
          <p:nvPr/>
        </p:nvSpPr>
        <p:spPr>
          <a:xfrm>
            <a:off x="3246120" y="429768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01E"/>
                </a:solidFill>
                <a:latin typeface="배달의민족 주아"/>
              </a:rPr>
              <a:t>8.2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3" name="TextBox 42"/>
          <p:cNvSpPr txBox="1"/>
          <p:nvPr/>
        </p:nvSpPr>
        <p:spPr>
          <a:xfrm>
            <a:off x="4663440" y="429768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01E"/>
                </a:solidFill>
                <a:latin typeface="배달의민족 주아"/>
              </a:rPr>
              <a:t>1.5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8076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5" name="TextBox 44"/>
          <p:cNvSpPr txBox="1"/>
          <p:nvPr/>
        </p:nvSpPr>
        <p:spPr>
          <a:xfrm>
            <a:off x="6080760" y="429768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01E"/>
                </a:solidFill>
                <a:latin typeface="배달의민족 주아"/>
              </a:rPr>
              <a:t>0.5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7" name="TextBox 46"/>
          <p:cNvSpPr txBox="1"/>
          <p:nvPr/>
        </p:nvSpPr>
        <p:spPr>
          <a:xfrm>
            <a:off x="7498080" y="429768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01E"/>
                </a:solidFill>
                <a:latin typeface="배달의민족 주아"/>
              </a:rPr>
              <a:t>0.7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9" name="TextBox 48"/>
          <p:cNvSpPr txBox="1"/>
          <p:nvPr/>
        </p:nvSpPr>
        <p:spPr>
          <a:xfrm>
            <a:off x="8915400" y="429768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01E"/>
                </a:solidFill>
                <a:latin typeface="배달의민족 주아"/>
              </a:rPr>
              <a:t>1.0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3272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1" name="TextBox 50"/>
          <p:cNvSpPr txBox="1"/>
          <p:nvPr/>
        </p:nvSpPr>
        <p:spPr>
          <a:xfrm>
            <a:off x="10332720" y="429768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01E"/>
                </a:solidFill>
                <a:latin typeface="배달의민족 주아"/>
              </a:rPr>
              <a:t>0.6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166360"/>
            <a:ext cx="1234440" cy="65836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3" name="TextBox 52"/>
          <p:cNvSpPr txBox="1"/>
          <p:nvPr/>
        </p:nvSpPr>
        <p:spPr>
          <a:xfrm>
            <a:off x="502920" y="5303520"/>
            <a:ext cx="1234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배달의민족 주아"/>
              </a:rPr>
              <a:t>확률 (%)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5166360"/>
            <a:ext cx="1362456" cy="658368"/>
          </a:xfrm>
          <a:prstGeom prst="roundRect">
            <a:avLst/>
          </a:prstGeom>
          <a:solidFill>
            <a:srgbClr val="358BD4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5" name="TextBox 54"/>
          <p:cNvSpPr txBox="1"/>
          <p:nvPr/>
        </p:nvSpPr>
        <p:spPr>
          <a:xfrm>
            <a:off x="1828800" y="530352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배달의민족 주아"/>
              </a:rPr>
              <a:t>73%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4612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7" name="TextBox 56"/>
          <p:cNvSpPr txBox="1"/>
          <p:nvPr/>
        </p:nvSpPr>
        <p:spPr>
          <a:xfrm>
            <a:off x="3246120" y="530352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58BD4"/>
                </a:solidFill>
                <a:latin typeface="배달의민족 주아"/>
              </a:rPr>
              <a:t>18%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6344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9" name="TextBox 58"/>
          <p:cNvSpPr txBox="1"/>
          <p:nvPr/>
        </p:nvSpPr>
        <p:spPr>
          <a:xfrm>
            <a:off x="4663440" y="530352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58BD4"/>
                </a:solidFill>
                <a:latin typeface="배달의민족 주아"/>
              </a:rPr>
              <a:t>3%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8076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1" name="TextBox 60"/>
          <p:cNvSpPr txBox="1"/>
          <p:nvPr/>
        </p:nvSpPr>
        <p:spPr>
          <a:xfrm>
            <a:off x="6080760" y="530352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58BD4"/>
                </a:solidFill>
                <a:latin typeface="배달의민족 주아"/>
              </a:rPr>
              <a:t>1%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9808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3" name="TextBox 62"/>
          <p:cNvSpPr txBox="1"/>
          <p:nvPr/>
        </p:nvSpPr>
        <p:spPr>
          <a:xfrm>
            <a:off x="7498080" y="530352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58BD4"/>
                </a:solidFill>
                <a:latin typeface="배달의민족 주아"/>
              </a:rPr>
              <a:t>2%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1540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5" name="TextBox 64"/>
          <p:cNvSpPr txBox="1"/>
          <p:nvPr/>
        </p:nvSpPr>
        <p:spPr>
          <a:xfrm>
            <a:off x="8915400" y="530352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58BD4"/>
                </a:solidFill>
                <a:latin typeface="배달의민족 주아"/>
              </a:rPr>
              <a:t>2%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33272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7" name="TextBox 66"/>
          <p:cNvSpPr txBox="1"/>
          <p:nvPr/>
        </p:nvSpPr>
        <p:spPr>
          <a:xfrm>
            <a:off x="10332720" y="5303520"/>
            <a:ext cx="1362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58BD4"/>
                </a:solidFill>
                <a:latin typeface="배달의민족 주아"/>
              </a:rPr>
              <a:t>1%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6133987"/>
            <a:ext cx="11155680" cy="38404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85800" y="6179707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지수 함수 효과 — 점수 차이가 클수록 확률 차이는 폭발적으로 커집니다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그런데</a:t>
            </a:r>
            <a:r>
              <a:rPr lang="en-US"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데이터를</a:t>
            </a:r>
            <a:r>
              <a:rPr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어떻게 구하나?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Softmax 수식은 알겠는데, 입력값을 어디서 얻지?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5120640" cy="530352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512064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41459"/>
            <a:ext cx="4754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5C5C"/>
                </a:solidFill>
                <a:latin typeface="배달의민족 주아"/>
              </a:rPr>
              <a:t>일반적인 Softmax 분류 모델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73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(TensorFlow / 지도학습)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4663440" cy="109728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📦 학습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'한식' 먹고 싶다 = True
'양식' 먹고 싶다 =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55848"/>
            <a:ext cx="4663440" cy="109728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🤖 모델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13048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model.fit() — 정답 레이블로
역전파(backprop) 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4531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54296"/>
            <a:ext cx="4663440" cy="109728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7274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✅ θ 자동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11496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데이터에서 자동으로
가중치가 결정됨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58BD4"/>
                </a:solidFill>
                <a:latin typeface="배달의민족 주아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15568"/>
            <a:ext cx="5303520" cy="530352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115568"/>
            <a:ext cx="530352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1242983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58BD4"/>
                </a:solidFill>
                <a:latin typeface="배달의민족 주아"/>
              </a:rPr>
              <a:t>우리의 해결책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657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민수의 행동이 곧 레이블!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2057400"/>
            <a:ext cx="4937760" cy="1097280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3AB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48272" y="2130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BD85"/>
                </a:solidFill>
                <a:latin typeface="배달의민족 주아"/>
              </a:rPr>
              <a:t>🏆 월드컵 선택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251460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돈까스 선택 = 분식 좋아함
라벨 없어도 행동이 신호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355848"/>
            <a:ext cx="4937760" cy="109728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48272" y="3429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8BD4"/>
                </a:solidFill>
                <a:latin typeface="배달의민족 주아"/>
              </a:rPr>
              <a:t>👍 붐업 클릭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3813048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돈까스집 좋아요
= 분식 +0.2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4531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654296"/>
            <a:ext cx="4937760" cy="109728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48272" y="47274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8BD4"/>
                </a:solidFill>
                <a:latin typeface="배달의민족 주아"/>
              </a:rPr>
              <a:t>✏️ 즉시 θ 업데이트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511149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피드백 받을 때마다 바로
분식 += 0.2 반영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피드백</a:t>
            </a:r>
            <a:r>
              <a:rPr lang="en-US" sz="2600" b="1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2600" b="1">
                <a:solidFill>
                  <a:srgbClr val="222222"/>
                </a:solidFill>
                <a:latin typeface="배달의민족 주아"/>
              </a:rPr>
              <a:t>업데이트합니다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붐업 / 붐다운 / 월드컵 → 즉시 로짓 점수 조정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배달의민족 주아"/>
              </a:rPr>
              <a:t>업데이트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35608"/>
            <a:ext cx="8686800" cy="50292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🏆 월드컵 승리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θ[winner_category] +=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강한 선호 신호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02536"/>
            <a:ext cx="86868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075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🏆 월드컵 탈락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756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θ[loser_category]  -= 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756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거부감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69464"/>
            <a:ext cx="8686800" cy="50292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6426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👍 붐업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6426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θ[category]        += 0.2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4261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명시적 긍정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36392"/>
            <a:ext cx="86868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2095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👎 붐다운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20954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θ[category]        -= 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0954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명시적 부정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03320"/>
            <a:ext cx="8686800" cy="50292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7764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🍽 메뉴 선택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7764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θ[category]        += 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7764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행동 기반 신호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80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Python 코드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1" y="4800600"/>
            <a:ext cx="5486400" cy="1905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800600"/>
            <a:ext cx="73025" cy="19044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9" y="4892040"/>
            <a:ext cx="5303520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def update_logit(logits, category, event):</a:t>
            </a: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    alpha = {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  'worldcup_win':  +0.5,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  'worldcup_lose': -0.3,</a:t>
            </a:r>
          </a:p>
          <a:p>
            <a:r>
              <a:rPr sz="1100">
                <a:solidFill>
                  <a:srgbClr val="3ABD85"/>
                </a:solidFill>
                <a:latin typeface="Consolas"/>
              </a:rPr>
              <a:t>        'like':          +0.2,</a:t>
            </a:r>
          </a:p>
          <a:p>
            <a:r>
              <a:rPr sz="1100">
                <a:solidFill>
                  <a:srgbClr val="FF5C5C"/>
                </a:solidFill>
                <a:latin typeface="Consolas"/>
              </a:rPr>
              <a:t>        'dislike':       -0.2,</a:t>
            </a:r>
          </a:p>
          <a:p>
            <a:r>
              <a:rPr sz="1100">
                <a:solidFill>
                  <a:srgbClr val="358BD4"/>
                </a:solidFill>
                <a:latin typeface="Consolas"/>
              </a:rPr>
              <a:t>        'menu_select':   +0.1,</a:t>
            </a: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    }[event]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logits[category] += alpha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return logits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80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민수 예시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• 월드컵: 돈까스 승리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937760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D85"/>
                </a:solidFill>
                <a:latin typeface="배달의민족 주아"/>
              </a:rPr>
              <a:t>θ['분식'] 0.0 → +0.5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285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• 월드컵: 파스타 탈락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5285232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C5C"/>
                </a:solidFill>
                <a:latin typeface="배달의민족 주아"/>
              </a:rPr>
              <a:t>θ['양식'] 0.0 → -0.3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327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• 돈까스집 붐업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5632704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D85"/>
                </a:solidFill>
                <a:latin typeface="배달의민족 주아"/>
              </a:rPr>
              <a:t>θ['분식'] 0.5 → +0.2 = 0.7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9801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• 삼겹살집 붐업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980176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58BD4"/>
                </a:solidFill>
                <a:latin typeface="배달의민족 주아"/>
              </a:rPr>
              <a:t>θ['한식'] 0.0 → +0.2 = 0.2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327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• 파스타집 붐다운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6327648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C5C"/>
                </a:solidFill>
                <a:latin typeface="배달의민족 주아"/>
              </a:rPr>
              <a:t>θ['양식'] -0.3 → -0.2 = -0.5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민수</a:t>
            </a:r>
            <a:r>
              <a:rPr lang="ko-KR" altLang="en-US"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 데이터가</a:t>
            </a:r>
            <a:r>
              <a:rPr lang="en-US"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변해가는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피드백이 쌓일수록 취향이 선명해집니다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0" cy="5029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00" cy="635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88888"/>
                </a:solidFill>
                <a:latin typeface="배달의민족 주아"/>
              </a:rPr>
              <a:t>처음 (월드컵 직후)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3383280" cy="10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163153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배달의민족 주아"/>
              </a:rPr>
              <a:t>로짓  →  확률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58BD4"/>
                </a:solidFill>
                <a:latin typeface="배달의민족 주아"/>
              </a:rPr>
              <a:t>분식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933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+0.5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4584" y="197510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90344" y="2011680"/>
            <a:ext cx="469391" cy="27432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05455" y="1993392"/>
            <a:ext cx="5943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96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한식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4963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+0.0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4584" y="247802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90344" y="2514600"/>
            <a:ext cx="298704" cy="27432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34768" y="24963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BD85"/>
                </a:solidFill>
                <a:latin typeface="배달의민족 주아"/>
              </a:rPr>
              <a:t>14%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99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양식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99923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-0.3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4584" y="298094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0344" y="3017520"/>
            <a:ext cx="213360" cy="27432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49424" y="299923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C5C"/>
                </a:solidFill>
                <a:latin typeface="배달의민족 주아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02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50215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4584" y="348386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90344" y="3520440"/>
            <a:ext cx="298704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34768" y="35021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0050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00507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4584" y="398678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0344" y="4023360"/>
            <a:ext cx="298704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34768" y="40050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5079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4584" y="448970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90344" y="4526280"/>
            <a:ext cx="298704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34768" y="45079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010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기타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0109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4584" y="499262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90344" y="5029200"/>
            <a:ext cx="298704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34768" y="50109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347472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1097280"/>
            <a:ext cx="3657600" cy="50292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43400" y="1097280"/>
            <a:ext cx="365760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43400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01E"/>
                </a:solidFill>
                <a:latin typeface="배달의민족 주아"/>
              </a:rPr>
              <a:t>30회 피드백 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60" y="1554480"/>
            <a:ext cx="3383280" cy="1016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77640" y="15773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배달의민족 주아"/>
              </a:rPr>
              <a:t>로짓  →  확률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19933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58BD4"/>
                </a:solidFill>
                <a:latin typeface="배달의민족 주아"/>
              </a:rPr>
              <a:t>분식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19933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+2.1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19933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06440" y="2022348"/>
            <a:ext cx="1109472" cy="27432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61632" y="2004060"/>
            <a:ext cx="505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52%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2496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D85"/>
                </a:solidFill>
                <a:latin typeface="배달의민족 주아"/>
              </a:rPr>
              <a:t>한식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66360" y="24963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+1.2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97880" y="24963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06440" y="2525268"/>
            <a:ext cx="448056" cy="27432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00216" y="2506980"/>
            <a:ext cx="411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BD85"/>
                </a:solidFill>
                <a:latin typeface="배달의민족 주아"/>
              </a:rPr>
              <a:t>21%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80560" y="2999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양식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299923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-0.8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97880" y="29992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06440" y="3028188"/>
            <a:ext cx="64008" cy="27432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16168" y="3009900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C5C"/>
                </a:solidFill>
                <a:latin typeface="배달의민족 주아"/>
              </a:rPr>
              <a:t>3%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3502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66360" y="350215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-0.2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97880" y="350215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06440" y="3531108"/>
            <a:ext cx="10668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58840" y="3512820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80560" y="40050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66360" y="400507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97880" y="40050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806440" y="4034028"/>
            <a:ext cx="128016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980176" y="4015740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6%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80560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66360" y="45079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97880" y="45079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06440" y="4536948"/>
            <a:ext cx="128016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80176" y="4518660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6%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80560" y="5010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기타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50109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97880" y="50109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806440" y="5039868"/>
            <a:ext cx="128016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80176" y="5021580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6%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01000" y="347472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229600" y="1097280"/>
            <a:ext cx="3657600" cy="502920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229600" y="1097280"/>
            <a:ext cx="365760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29600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8BD4"/>
                </a:solidFill>
                <a:latin typeface="배달의민족 주아"/>
              </a:rPr>
              <a:t>100회 피드백 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66760" y="1554480"/>
            <a:ext cx="3383280" cy="1016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366760" y="1600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배달의민족 주아"/>
              </a:rPr>
              <a:t>로짓  →  확률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66760" y="19933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58BD4"/>
                </a:solidFill>
                <a:latin typeface="배달의민족 주아"/>
              </a:rPr>
              <a:t>분식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52560" y="19933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+3.5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94520" y="1975104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814560" y="2011680"/>
            <a:ext cx="1578864" cy="27432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1439144" y="1993392"/>
            <a:ext cx="5090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74%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66760" y="2496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D85"/>
                </a:solidFill>
                <a:latin typeface="배달의민족 주아"/>
              </a:rPr>
              <a:t>한식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0" y="24963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+2.1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494520" y="2478024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814560" y="2514600"/>
            <a:ext cx="384048" cy="27432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244328" y="2496312"/>
            <a:ext cx="411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BD85"/>
                </a:solidFill>
                <a:latin typeface="배달의민족 주아"/>
              </a:rPr>
              <a:t>18%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66760" y="2999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양식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52560" y="299923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-1.2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494520" y="2980944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814560" y="3017520"/>
            <a:ext cx="45720" cy="27432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881616" y="2999232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C5C"/>
                </a:solidFill>
                <a:latin typeface="배달의민족 주아"/>
              </a:rPr>
              <a:t>1%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66760" y="3502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52560" y="350215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-0.6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94520" y="3483864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814560" y="3520440"/>
            <a:ext cx="4572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881616" y="3502152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66760" y="40050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52560" y="400507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-0.3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94520" y="3986784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814560" y="4023360"/>
            <a:ext cx="4572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902952" y="4005072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366760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52560" y="45079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494520" y="4489704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814560" y="4526280"/>
            <a:ext cx="4572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902952" y="4507992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66760" y="5010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기타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52560" y="50109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-0.5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94520" y="4992624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814560" y="5029200"/>
            <a:ext cx="4572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881616" y="5010912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7200" y="6236208"/>
            <a:ext cx="11274552" cy="41148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40080" y="6291072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배달의민족 주아"/>
              </a:rPr>
              <a:t>피드백 100회 후 — 분식 52%, 한식 22% → 민수의 취향을 정확히 반영!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그런데 TensorFlow 방식에 3가지 문제가 있었습니다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3611880" cy="512064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361188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611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2222"/>
                </a:solidFill>
                <a:latin typeface="배달의민족 주아"/>
              </a:rPr>
              <a:t>❄️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9572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22222"/>
                </a:solidFill>
                <a:latin typeface="배달의민족 주아"/>
              </a:rPr>
              <a:t>Cold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07792"/>
            <a:ext cx="3063240" cy="101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민수가 방금 가입했다면
피드백 데이터가 0개
model.fit()은 학습할 데이터가
없으면 동작 불가
→ 신규 유저 추천 불가능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611880" cy="512064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61188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3611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2222"/>
                </a:solidFill>
                <a:latin typeface="배달의민족 주아"/>
              </a:rPr>
              <a:t>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9572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22222"/>
                </a:solidFill>
                <a:latin typeface="배달의민족 주아"/>
              </a:rPr>
              <a:t>실시간 반영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907792"/>
            <a:ext cx="3063240" cy="101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2999232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민수가 지금 돈까스 붐업을 눌러도
다음 재학습 때까지 변화 없음
점심에 눌렀는데
저녁 추천에도 파스타가 나옴
→ 즉각 반응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43000"/>
            <a:ext cx="3611880" cy="512064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143000"/>
            <a:ext cx="361188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325880"/>
            <a:ext cx="3611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2222"/>
                </a:solidFill>
                <a:latin typeface="배달의민족 주아"/>
              </a:rPr>
              <a:t>⚖️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39572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22222"/>
                </a:solidFill>
                <a:latin typeface="배달의민족 주아"/>
              </a:rPr>
              <a:t>데이터 불균형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907792"/>
            <a:ext cx="3063240" cy="101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2999232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민수가 분식만 먹으면
다른 카테고리 학습 데이터 없음
'일식 먹고 싶다'고 해도
모델이 일식 예측 못함
→ 취향 왜곡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382512"/>
            <a:ext cx="11274552" cy="34747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428232"/>
            <a:ext cx="109087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배달의민족 주아"/>
              </a:rPr>
              <a:t>→  TensorFlow 그대로는 실시간 개인화가 어렵다는 결론 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문제 1 — 돈까스만 계속 추천됩니다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피드백이 쌓이면 확률이 한 곳에 집중되는 필터 버블 발생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530352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268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5C5C"/>
                </a:solidFill>
                <a:latin typeface="배달의민족 주아"/>
              </a:rPr>
              <a:t>200회 피드백 후 확률 분포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(Temperature 없이 순수 Softmax)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4825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분식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066544"/>
            <a:ext cx="3657600" cy="27432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93792" y="20665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71%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511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한식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569464"/>
            <a:ext cx="927278" cy="27432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3470" y="2569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540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양식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72384"/>
            <a:ext cx="206061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42253" y="307238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중식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575304"/>
            <a:ext cx="154546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90738" y="357530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5993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일식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078224"/>
            <a:ext cx="10303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39222" y="407822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6285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디저트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581144"/>
            <a:ext cx="51515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87707" y="45811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657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기타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5084064"/>
            <a:ext cx="51515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87707" y="50840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577840"/>
            <a:ext cx="4535725" cy="448056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7492" y="5669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결과: 민수에게 5개 식당 모두 분식집만 추천됨!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1417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4173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1417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배달의민족 주아"/>
              </a:rPr>
              <a:t>분식 확률이 71%로 독점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783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다른 카테고리는 영원히 추천받지 못할 수도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21214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민수도 가끔은 한식, 양식이 먹고 싶을 텐데...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2551176"/>
            <a:ext cx="5943600" cy="347472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26700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01E"/>
                </a:solidFill>
                <a:latin typeface="배달의민족 주아"/>
              </a:rPr>
              <a:t>원인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07238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Softmax의 지수 함수는 점수 차이를 폭발적으로 키웁니다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55701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01E"/>
                </a:solidFill>
                <a:latin typeface="배달의민족 주아"/>
              </a:rPr>
              <a:t>θ_분식 = 3.5,  θ_한식 = 2.1  →  확률 차이: 4배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9502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학습이 계속될수록 이 현상은 더 심해집니다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3159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01E"/>
                </a:solidFill>
                <a:latin typeface="배달의민족 주아"/>
              </a:rPr>
              <a:t>→ 결국 같은 음식만 반복 추천되는 필터 버블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해결책 1 — Temperature Softmax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온도 T를 올려 확률 분포를 평탄하게 만듭니다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155680" cy="77724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80" y="1234440"/>
                <a:ext cx="107899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P(i) = exp(</a:t>
                </a: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ᵢ / T) / </a:t>
                </a:r>
                <a14:m>
                  <m:oMath xmlns:m="http://schemas.openxmlformats.org/officeDocument/2006/math">
                    <m:r>
                      <a:rPr lang="ko-KR" altLang="en-US" sz="1400" b="1" i="0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ⱼ exp(</a:t>
                </a: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ⱼ / T)    </a:t>
                </a:r>
                <a:r>
                  <a:rPr lang="en-US" sz="1400" b="1">
                    <a:solidFill>
                      <a:srgbClr val="358BD4"/>
                    </a:solidFill>
                    <a:latin typeface="배달의민족 주아"/>
                  </a:rPr>
                  <a:t> </a:t>
                </a:r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T가 클수록 분포가 평탄 (다양성 </a:t>
                </a: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)   |   T=1.5 채택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234440"/>
                <a:ext cx="10789920" cy="307777"/>
              </a:xfrm>
              <a:prstGeom prst="rect">
                <a:avLst/>
              </a:prstGeom>
              <a:blipFill>
                <a:blip r:embed="rId2"/>
                <a:stretch>
                  <a:fillRect l="-169" t="-8000" b="-2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438912" y="2322576"/>
            <a:ext cx="5486400" cy="393192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23957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5C5C"/>
                </a:solidFill>
                <a:latin typeface="배달의민족 주아"/>
              </a:rPr>
              <a:t>T = 1.0 (기본)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9077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분식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5024" y="2926080"/>
            <a:ext cx="3657600" cy="25603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38344" y="29077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C5C"/>
                </a:solidFill>
                <a:latin typeface="배달의민족 주아"/>
              </a:rPr>
              <a:t>71%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3649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한식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5024" y="3383280"/>
            <a:ext cx="927278" cy="256032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08022" y="33649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BD85"/>
                </a:solidFill>
                <a:latin typeface="배달의민족 주아"/>
              </a:rP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8221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양식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5024" y="3840480"/>
            <a:ext cx="206061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86805" y="38221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2793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중식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35024" y="4297680"/>
            <a:ext cx="154546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35290" y="42793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7365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일식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5024" y="4754880"/>
            <a:ext cx="103030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83774" y="47365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51937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디저트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35024" y="5212080"/>
            <a:ext cx="51515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32259" y="51937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56509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기타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5024" y="5669280"/>
            <a:ext cx="51515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32259" y="56509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2512" y="2322576"/>
            <a:ext cx="5486400" cy="393192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23957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58BD4"/>
                </a:solidFill>
                <a:latin typeface="배달의민족 주아"/>
              </a:rPr>
              <a:t>T = 1.5 (채택)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29077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분식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78624" y="2926080"/>
            <a:ext cx="2163650" cy="256032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87994" y="29077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42%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33649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한식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78624" y="3383280"/>
            <a:ext cx="1236371" cy="256032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60715" y="33649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BD85"/>
                </a:solidFill>
                <a:latin typeface="배달의민족 주아"/>
              </a:rPr>
              <a:t>24%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38221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양식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78624" y="3840480"/>
            <a:ext cx="618185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42529" y="38221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42793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중식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78624" y="4297680"/>
            <a:ext cx="412123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36467" y="42793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9672" y="47365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일식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78624" y="4754880"/>
            <a:ext cx="309092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33436" y="47365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9672" y="51937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디저트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78624" y="5212080"/>
            <a:ext cx="257577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81921" y="51937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9672" y="56509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기타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78624" y="5669280"/>
            <a:ext cx="154546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78890" y="56509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917B5A-C309-F483-7E7C-199FC88F0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C2DD00-3D70-9016-1F77-2BFA850782D0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86546-6003-489D-E156-9DB4BB2507A6}"/>
              </a:ext>
            </a:extLst>
          </p:cNvPr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해결책 1 — Temperature Softmax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C74BE8-2679-2A04-188A-E5439C13259D}"/>
              </a:ext>
            </a:extLst>
          </p:cNvPr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온도 T를 올려 확률 분포를 평탄하게 만듭니다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BFAA2-B93D-50AF-31E8-D990DC9450FC}"/>
              </a:ext>
            </a:extLst>
          </p:cNvPr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7A659A-0137-D0C2-DCA7-BB6EB8708F4D}"/>
              </a:ext>
            </a:extLst>
          </p:cNvPr>
          <p:cNvSpPr/>
          <p:nvPr/>
        </p:nvSpPr>
        <p:spPr>
          <a:xfrm>
            <a:off x="457200" y="1097280"/>
            <a:ext cx="11155680" cy="77724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D0A41C-C5F4-884D-A3E9-8AA78C8DE2D3}"/>
                  </a:ext>
                </a:extLst>
              </p:cNvPr>
              <p:cNvSpPr txBox="1"/>
              <p:nvPr/>
            </p:nvSpPr>
            <p:spPr>
              <a:xfrm>
                <a:off x="640080" y="1234440"/>
                <a:ext cx="10789920" cy="312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P(i) = exp(</a:t>
                </a: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ᵢ / T) / </a:t>
                </a:r>
                <a14:m>
                  <m:oMath xmlns:m="http://schemas.openxmlformats.org/officeDocument/2006/math">
                    <m:r>
                      <a:rPr lang="en-US" sz="1400" b="1" i="0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sz="14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ⱼ</m:t>
                    </m:r>
                  </m:oMath>
                </a14:m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 exp(</a:t>
                </a: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ⱼ /</a:t>
                </a: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T)     T가 클수록 분포가 평탄 (다양성 </a:t>
                </a: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)   | </a:t>
                </a:r>
                <a14:m>
                  <m:oMath xmlns:m="http://schemas.openxmlformats.org/officeDocument/2006/math">
                    <m:r>
                      <a:rPr lang="ko-KR" altLang="en-US" sz="1400" b="1" i="1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sz="1400" b="1">
                    <a:solidFill>
                      <a:srgbClr val="358BD4"/>
                    </a:solidFill>
                    <a:latin typeface="배달의민족 주아"/>
                  </a:rPr>
                  <a:t>T=1.5 채택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D0A41C-C5F4-884D-A3E9-8AA78C8DE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234440"/>
                <a:ext cx="10789920" cy="312393"/>
              </a:xfrm>
              <a:prstGeom prst="rect">
                <a:avLst/>
              </a:prstGeom>
              <a:blipFill>
                <a:blip r:embed="rId2"/>
                <a:stretch>
                  <a:fillRect l="-169" t="-7843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439D0C58-47C7-35EA-22DA-D7779BF72959}"/>
              </a:ext>
            </a:extLst>
          </p:cNvPr>
          <p:cNvSpPr txBox="1"/>
          <p:nvPr/>
        </p:nvSpPr>
        <p:spPr>
          <a:xfrm>
            <a:off x="457200" y="1892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코드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60952F8-B36A-1E4B-2662-E9B0759B2563}"/>
              </a:ext>
            </a:extLst>
          </p:cNvPr>
          <p:cNvSpPr/>
          <p:nvPr/>
        </p:nvSpPr>
        <p:spPr>
          <a:xfrm>
            <a:off x="457200" y="2240280"/>
            <a:ext cx="5669280" cy="1188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171228F-5414-9BD7-37E1-B6BCE790E58F}"/>
              </a:ext>
            </a:extLst>
          </p:cNvPr>
          <p:cNvSpPr/>
          <p:nvPr/>
        </p:nvSpPr>
        <p:spPr>
          <a:xfrm>
            <a:off x="457200" y="2240280"/>
            <a:ext cx="45720" cy="118872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BBA889-69EF-0502-6524-01A7449BA92B}"/>
              </a:ext>
            </a:extLst>
          </p:cNvPr>
          <p:cNvSpPr txBox="1"/>
          <p:nvPr/>
        </p:nvSpPr>
        <p:spPr>
          <a:xfrm>
            <a:off x="566928" y="2331720"/>
            <a:ext cx="5486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def softmax_temp(logits, T=1.5):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exp_vals = {k: math.exp(v / T)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           for k, v in logits.items()}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total = sum(exp_vals.values())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return {k: v / total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        for k, v in exp_vals.items()}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C1B38C2-F8E8-9DB8-A95F-BB466117E26B}"/>
              </a:ext>
            </a:extLst>
          </p:cNvPr>
          <p:cNvSpPr/>
          <p:nvPr/>
        </p:nvSpPr>
        <p:spPr>
          <a:xfrm>
            <a:off x="6245352" y="1996440"/>
            <a:ext cx="5367528" cy="143256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971D0D-E48B-F17C-3BA1-2A4D1A5B0CA3}"/>
              </a:ext>
            </a:extLst>
          </p:cNvPr>
          <p:cNvSpPr txBox="1"/>
          <p:nvPr/>
        </p:nvSpPr>
        <p:spPr>
          <a:xfrm>
            <a:off x="6428232" y="21153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효과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89B6BF-29F2-8DAA-4889-F209E2F31514}"/>
              </a:ext>
            </a:extLst>
          </p:cNvPr>
          <p:cNvSpPr txBox="1"/>
          <p:nvPr/>
        </p:nvSpPr>
        <p:spPr>
          <a:xfrm>
            <a:off x="7525511" y="2115312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분식 71% → 42%  (독점 해소)
다른 카테고리도 추천받을 기회 생김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E08CAE-BB88-AAEF-EF9A-E5A6496401A9}"/>
              </a:ext>
            </a:extLst>
          </p:cNvPr>
          <p:cNvSpPr txBox="1"/>
          <p:nvPr/>
        </p:nvSpPr>
        <p:spPr>
          <a:xfrm>
            <a:off x="6428232" y="25267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민수도 가끔 한식·양식이 추천됩니다</a:t>
            </a:r>
          </a:p>
        </p:txBody>
      </p:sp>
      <p:sp>
        <p:nvSpPr>
          <p:cNvPr id="8" name="AutoShape 2" descr="생성된 이미지: 업그레이드 버튼을 누르는 T">
            <a:extLst>
              <a:ext uri="{FF2B5EF4-FFF2-40B4-BE49-F238E27FC236}">
                <a16:creationId xmlns:a16="http://schemas.microsoft.com/office/drawing/2014/main" id="{1765AC1D-587E-177E-C492-A044A631EE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4" descr="생성된 이미지: 업그레이드 버튼을 누르는 T">
            <a:extLst>
              <a:ext uri="{FF2B5EF4-FFF2-40B4-BE49-F238E27FC236}">
                <a16:creationId xmlns:a16="http://schemas.microsoft.com/office/drawing/2014/main" id="{87FFD17B-7FEC-C85D-8730-917393CC7C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223003-0807-2B50-0F1B-3856C0731D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8" t="20800" r="2799" b="18000"/>
          <a:stretch>
            <a:fillRect/>
          </a:stretch>
        </p:blipFill>
        <p:spPr>
          <a:xfrm>
            <a:off x="2064226" y="3555066"/>
            <a:ext cx="7536974" cy="322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08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문제 2 — 민수가 다이어트를 시작했습니다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과거의 강한 피드백이 오늘의 추천을 지배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86840"/>
            <a:ext cx="11155680" cy="146304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331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1E"/>
                </a:solidFill>
                <a:latin typeface="배달의민족 주아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3314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6개월 전까지 돈까스를 매일 먹었던 민수 → 지난 달부터 다이어트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9890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요즘은 샐러드, 닭가슴살 등 가벼운 음식 선호  |  하지만 시스템은 여전히 돈까스를 1위로 추천 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1632"/>
            <a:ext cx="3566160" cy="118872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243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8BD4"/>
                </a:solidFill>
                <a:latin typeface="배달의민족 주아"/>
              </a:rPr>
              <a:t>6개월 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905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돈까스 매일 붐업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01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분식 θ = +3.5 (지배적)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35631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151632"/>
            <a:ext cx="3566160" cy="1188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3243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3개월 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905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건강식 조금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901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분식 θ = +3.5 그대로 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35631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151632"/>
            <a:ext cx="3566160" cy="118872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3243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현재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5905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다이어트 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901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C5C"/>
                </a:solidFill>
                <a:latin typeface="배달의민족 주아"/>
              </a:rPr>
              <a:t>분식 θ = +3.5 (여전히 1위!)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96384"/>
            <a:ext cx="1115568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335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73354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6개월 전 피드백이 오늘 추천에 100% 영향을 미칩니다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08101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취향은 시간에 따라 변하는데 — 오래된 데이터는 점점 신뢰도가 낮아져야 합니다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71032"/>
            <a:ext cx="11155680" cy="502920"/>
          </a:xfrm>
          <a:prstGeom prst="round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04418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배달의민족 주아"/>
              </a:rPr>
              <a:t>해결 방향: 오래된 피드백의 가중치를 시간이 지날수록 줄여나가자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해결책 2 — Temporal Decay (시간 감쇠)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오래된 피드백은 점점 영향력이 줄어듭니다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155680" cy="50292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75945" y="1165860"/>
                <a:ext cx="10789920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ko-KR" altLang="en-US" sz="1400" b="1" i="1" dirty="0" smtClean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ko-KR" sz="1400" b="1" i="1" dirty="0" err="1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ko-KR" altLang="en-US" sz="1400" b="1" i="1" dirty="0" err="1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𝒆𝒇𝒇𝒆𝒄𝒕𝒊𝒗𝒆</m:t>
                    </m:r>
                    <m:r>
                      <a:rPr lang="ko-KR" altLang="en-US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1" i="1" dirty="0" smtClean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ko-KR" altLang="en-US" sz="1400" b="1" i="1" dirty="0" err="1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ko-KR" sz="1400" b="1" i="1" dirty="0" err="1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ko-KR" altLang="en-US" sz="1400" b="1" i="1" dirty="0" smtClean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𝒔𝒕𝒐𝒓𝒆𝒅</m:t>
                    </m:r>
                    <m:r>
                      <a:rPr lang="ko-KR" altLang="en-US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× </m:t>
                    </m:r>
                    <m:r>
                      <a:rPr lang="ko-KR" altLang="en-US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ko-KR" sz="1400" b="1" i="1" dirty="0" smtClean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^(</m:t>
                    </m:r>
                    <m:r>
                      <a:rPr lang="ko-KR" altLang="en-US" sz="1400" b="1" i="1" dirty="0" err="1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경과</m:t>
                    </m:r>
                    <m:r>
                      <a:rPr lang="ko-KR" altLang="en-US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b="1" i="1" dirty="0" err="1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일수</m:t>
                    </m:r>
                    <m:r>
                      <a:rPr lang="en-US" altLang="ko-KR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)       </m:t>
                    </m:r>
                    <m:r>
                      <a:rPr lang="ko-KR" altLang="en-US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lang="ko-KR" altLang="en-US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ko-KR" altLang="en-US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ko-KR" altLang="en-US" sz="1400" b="1" i="1" dirty="0">
                        <a:solidFill>
                          <a:srgbClr val="F5A01E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sz="1400" b="1" dirty="0">
                    <a:solidFill>
                      <a:srgbClr val="F5A01E"/>
                    </a:solidFill>
                    <a:latin typeface="배달의민족 주아"/>
                  </a:rPr>
                  <a:t>5  →  </a:t>
                </a:r>
                <a:r>
                  <a:rPr sz="1400" b="1" dirty="0" err="1">
                    <a:solidFill>
                      <a:srgbClr val="F5A01E"/>
                    </a:solidFill>
                    <a:latin typeface="배달의민족 주아"/>
                  </a:rPr>
                  <a:t>매일</a:t>
                </a:r>
                <a:r>
                  <a:rPr sz="1400" b="1" dirty="0">
                    <a:solidFill>
                      <a:srgbClr val="F5A01E"/>
                    </a:solidFill>
                    <a:latin typeface="배달의민족 주아"/>
                  </a:rPr>
                  <a:t> 5%씩 </a:t>
                </a:r>
                <a:r>
                  <a:rPr sz="1400" b="1" dirty="0" err="1">
                    <a:solidFill>
                      <a:srgbClr val="F5A01E"/>
                    </a:solidFill>
                    <a:latin typeface="배달의민족 주아"/>
                  </a:rPr>
                  <a:t>감쇠</a:t>
                </a:r>
                <a:r>
                  <a:rPr sz="1400" b="1" dirty="0">
                    <a:solidFill>
                      <a:srgbClr val="F5A01E"/>
                    </a:solidFill>
                    <a:latin typeface="배달의민족 주아"/>
                  </a:rPr>
                  <a:t>   |   30일 후 약 21%만 </a:t>
                </a:r>
                <a:r>
                  <a:rPr sz="1400" b="1" dirty="0" err="1">
                    <a:solidFill>
                      <a:srgbClr val="F5A01E"/>
                    </a:solidFill>
                    <a:latin typeface="배달의민족 주아"/>
                  </a:rPr>
                  <a:t>남음</a:t>
                </a:r>
                <a:endParaRPr sz="1400" b="1" dirty="0">
                  <a:solidFill>
                    <a:srgbClr val="F5A01E"/>
                  </a:solidFill>
                  <a:latin typeface="배달의민족 주아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45" y="1165860"/>
                <a:ext cx="10789920" cy="311817"/>
              </a:xfrm>
              <a:prstGeom prst="rect">
                <a:avLst/>
              </a:prstGeom>
              <a:blipFill>
                <a:blip r:embed="rId2"/>
                <a:stretch>
                  <a:fillRect b="-21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960120" y="2842260"/>
            <a:ext cx="1280160" cy="256032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54483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오늘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957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8BD4"/>
                </a:solidFill>
                <a:latin typeface="배달의민족 주아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066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θ × 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2968" y="3610356"/>
            <a:ext cx="1280160" cy="1792224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15768" y="54483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7일 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57957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ABD85"/>
                </a:solidFill>
                <a:latin typeface="배달의민족 주아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61066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θ × 0.70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5816" y="4864912"/>
            <a:ext cx="1280160" cy="537667"/>
          </a:xfrm>
          <a:prstGeom prst="round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28616" y="54483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30일 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57957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01E"/>
                </a:solidFill>
                <a:latin typeface="배달의민족 주아"/>
              </a:rPr>
              <a:t>21%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8616" y="61066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θ × 0.21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98664" y="5356860"/>
            <a:ext cx="1280160" cy="4572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41464" y="54483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90일 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57957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5C5C"/>
                </a:solidFill>
                <a:latin typeface="배달의민족 주아"/>
              </a:rPr>
              <a:t>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4" y="61066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θ × 0.01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11512" y="5356860"/>
            <a:ext cx="1280160" cy="457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54312" y="54483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180일 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57957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88888"/>
                </a:solidFill>
                <a:latin typeface="배달의민족 주아"/>
              </a:rPr>
              <a:t>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61066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θ × 0.00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430012"/>
            <a:ext cx="11274552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F7C01-7B3A-584D-F280-6418CD1C2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DBBD4-ACE2-8784-A7A4-0B0D11E26BB4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22438-0F27-1134-1730-2B4967481ABE}"/>
              </a:ext>
            </a:extLst>
          </p:cNvPr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해결책 2 — Temporal Decay (시간 감쇠)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F061E-8CF6-BB7A-DC57-7DE7A958AE1D}"/>
              </a:ext>
            </a:extLst>
          </p:cNvPr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오래된 피드백은 점점 영향력이 줄어듭니다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869B88-EC90-B6D5-B2D9-02081EB8CF41}"/>
              </a:ext>
            </a:extLst>
          </p:cNvPr>
          <p:cNvSpPr txBox="1"/>
          <p:nvPr/>
        </p:nvSpPr>
        <p:spPr>
          <a:xfrm>
            <a:off x="502883" y="4416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코드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C02204-5ED3-3B4B-8976-5362298BAAA8}"/>
              </a:ext>
            </a:extLst>
          </p:cNvPr>
          <p:cNvSpPr/>
          <p:nvPr/>
        </p:nvSpPr>
        <p:spPr>
          <a:xfrm>
            <a:off x="502883" y="4754880"/>
            <a:ext cx="5669280" cy="171907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CC0140-9283-C327-C729-2B7171019A4E}"/>
              </a:ext>
            </a:extLst>
          </p:cNvPr>
          <p:cNvSpPr/>
          <p:nvPr/>
        </p:nvSpPr>
        <p:spPr>
          <a:xfrm>
            <a:off x="502883" y="4754880"/>
            <a:ext cx="45720" cy="1719072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85C285-41B7-8A49-E8B1-1ECDF393CAD9}"/>
              </a:ext>
            </a:extLst>
          </p:cNvPr>
          <p:cNvSpPr txBox="1"/>
          <p:nvPr/>
        </p:nvSpPr>
        <p:spPr>
          <a:xfrm>
            <a:off x="612611" y="4846320"/>
            <a:ext cx="548640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from datetime import datetime</a:t>
            </a:r>
          </a:p>
          <a:p>
            <a:endParaRPr sz="1100">
              <a:solidFill>
                <a:srgbClr val="888888"/>
              </a:solidFill>
              <a:latin typeface="Consolas"/>
            </a:endParaRP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def apply_decay(logit, updated_at, gamma=0.95):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days = (datetime.now() - updated_at).days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return logit * (gamma ** days)</a:t>
            </a:r>
          </a:p>
          <a:p>
            <a:endParaRPr sz="1100">
              <a:solidFill>
                <a:srgbClr val="F5C518"/>
              </a:solidFill>
              <a:latin typeface="Consolas"/>
            </a:endParaRP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# 사용 예시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theta_분식 = apply_decay(3.5, date_180days_ago)</a:t>
            </a:r>
          </a:p>
          <a:p>
            <a:r>
              <a:rPr sz="1100">
                <a:solidFill>
                  <a:srgbClr val="3ABD85"/>
                </a:solidFill>
                <a:latin typeface="Consolas"/>
              </a:rPr>
              <a:t># → 3.5 × 0.95^180 ≈ 0.0003  (거의 0)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9A99E9A-9390-DC6F-B9A5-D2982CF86308}"/>
              </a:ext>
            </a:extLst>
          </p:cNvPr>
          <p:cNvSpPr/>
          <p:nvPr/>
        </p:nvSpPr>
        <p:spPr>
          <a:xfrm>
            <a:off x="6355080" y="4503420"/>
            <a:ext cx="5394960" cy="20574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9ACCC9-95F6-2032-E5EA-5C0D258DF3B4}"/>
              </a:ext>
            </a:extLst>
          </p:cNvPr>
          <p:cNvSpPr txBox="1"/>
          <p:nvPr/>
        </p:nvSpPr>
        <p:spPr>
          <a:xfrm>
            <a:off x="6537960" y="46222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1E"/>
                </a:solidFill>
                <a:latin typeface="배달의민족 주아"/>
              </a:rPr>
              <a:t>민수에게 적용하면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14E2F9-7FC9-58DC-9AAC-6B916FEA98E1}"/>
              </a:ext>
            </a:extLst>
          </p:cNvPr>
          <p:cNvSpPr txBox="1"/>
          <p:nvPr/>
        </p:nvSpPr>
        <p:spPr>
          <a:xfrm>
            <a:off x="6537960" y="50246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6개월 전 돈까스 붐업  →  θ × 0.95^180 ≈ 0.0003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1CDC65-CDFF-D29B-C05F-923777DBCCDF}"/>
              </a:ext>
            </a:extLst>
          </p:cNvPr>
          <p:cNvSpPr txBox="1"/>
          <p:nvPr/>
        </p:nvSpPr>
        <p:spPr>
          <a:xfrm>
            <a:off x="6537960" y="53721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지난 주 샐러드집 붐업  →  θ × 0.95^7 ≈ 0.70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303C2C-F624-9C40-611A-FB2C00275C1B}"/>
              </a:ext>
            </a:extLst>
          </p:cNvPr>
          <p:cNvSpPr txBox="1"/>
          <p:nvPr/>
        </p:nvSpPr>
        <p:spPr>
          <a:xfrm>
            <a:off x="6537960" y="57195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01E"/>
                </a:solidFill>
                <a:latin typeface="배달의민족 주아"/>
              </a:rPr>
              <a:t>→ 최근 다이어트 습관이 반영된 추천!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BD2AC31F-60CF-92A6-7CFC-F5FF44D9E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1165860"/>
            <a:ext cx="9183551" cy="312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97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문제 3 — 어떤 카테고리는 영원히 추천 안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한 번도 선택 안 한 카테고리 = 확률 0% = 추천 불가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155680" cy="1444752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1E"/>
                </a:solidFill>
                <a:latin typeface="배달의민족 주아"/>
              </a:rPr>
              <a:t>상황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737360" y="1261872"/>
                <a:ext cx="96012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222222"/>
                    </a:solidFill>
                    <a:latin typeface="배달의민족 주아"/>
                  </a:rPr>
                  <a:t>민수는</a:t>
                </a:r>
                <a:r>
                  <a:rPr sz="1400" b="0" dirty="0">
                    <a:solidFill>
                      <a:srgbClr val="222222"/>
                    </a:solidFill>
                    <a:latin typeface="배달의민족 주아"/>
                  </a:rPr>
                  <a:t> </a:t>
                </a:r>
                <a:r>
                  <a:rPr sz="1400" b="0" dirty="0" err="1">
                    <a:solidFill>
                      <a:srgbClr val="222222"/>
                    </a:solidFill>
                    <a:latin typeface="배달의민족 주아"/>
                  </a:rPr>
                  <a:t>디저트를</a:t>
                </a:r>
                <a:r>
                  <a:rPr sz="1400" b="0" dirty="0">
                    <a:solidFill>
                      <a:srgbClr val="222222"/>
                    </a:solidFill>
                    <a:latin typeface="배달의민족 주아"/>
                  </a:rPr>
                  <a:t> 한 </a:t>
                </a:r>
                <a:r>
                  <a:rPr sz="1400" b="0" dirty="0" err="1">
                    <a:solidFill>
                      <a:srgbClr val="222222"/>
                    </a:solidFill>
                    <a:latin typeface="배달의민족 주아"/>
                  </a:rPr>
                  <a:t>번도</a:t>
                </a:r>
                <a:r>
                  <a:rPr sz="1400" b="0" dirty="0">
                    <a:solidFill>
                      <a:srgbClr val="222222"/>
                    </a:solidFill>
                    <a:latin typeface="배달의민족 주아"/>
                  </a:rPr>
                  <a:t> </a:t>
                </a:r>
                <a:r>
                  <a:rPr sz="1400" b="0" dirty="0" err="1">
                    <a:solidFill>
                      <a:srgbClr val="222222"/>
                    </a:solidFill>
                    <a:latin typeface="배달의민족 주아"/>
                  </a:rPr>
                  <a:t>선택한</a:t>
                </a:r>
                <a:r>
                  <a:rPr sz="1400" b="0" dirty="0">
                    <a:solidFill>
                      <a:srgbClr val="222222"/>
                    </a:solidFill>
                    <a:latin typeface="배달의민족 주아"/>
                  </a:rPr>
                  <a:t> 적 </a:t>
                </a:r>
                <a:r>
                  <a:rPr sz="1400" b="0" dirty="0" err="1">
                    <a:solidFill>
                      <a:srgbClr val="222222"/>
                    </a:solidFill>
                    <a:latin typeface="배달의민족 주아"/>
                  </a:rPr>
                  <a:t>없음</a:t>
                </a:r>
                <a14:m>
                  <m:oMath xmlns:m="http://schemas.openxmlformats.org/officeDocument/2006/math">
                    <m:r>
                      <a:rPr lang="ko-KR" altLang="en-US" sz="1400" b="0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  →  </m:t>
                    </m:r>
                    <m:r>
                      <a:rPr lang="ko-KR" altLang="en-US" sz="1400" b="0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400" b="0" dirty="0">
                    <a:solidFill>
                      <a:srgbClr val="222222"/>
                    </a:solidFill>
                    <a:latin typeface="배달의민족 주아"/>
                  </a:rPr>
                  <a:t>['</a:t>
                </a:r>
                <a:r>
                  <a:rPr sz="1400" b="0" dirty="0" err="1">
                    <a:solidFill>
                      <a:srgbClr val="222222"/>
                    </a:solidFill>
                    <a:latin typeface="배달의민족 주아"/>
                  </a:rPr>
                  <a:t>디저트</a:t>
                </a:r>
                <a:r>
                  <a:rPr sz="1400" b="0" dirty="0">
                    <a:solidFill>
                      <a:srgbClr val="222222"/>
                    </a:solidFill>
                    <a:latin typeface="배달의민족 주아"/>
                  </a:rPr>
                  <a:t>'] = 0.0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0" y="1261872"/>
                <a:ext cx="9601200" cy="307777"/>
              </a:xfrm>
              <a:prstGeom prst="rect">
                <a:avLst/>
              </a:prstGeom>
              <a:blipFill>
                <a:blip r:embed="rId2"/>
                <a:stretch>
                  <a:fillRect l="-190" t="-2000" b="-2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737360" y="1627632"/>
                <a:ext cx="96012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Softmax</a:t>
                </a:r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 후 P('</a:t>
                </a:r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디저트</a:t>
                </a:r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')</a:t>
                </a:r>
                <a14:m>
                  <m:oMath xmlns:m="http://schemas.openxmlformats.org/officeDocument/2006/math">
                    <m:r>
                      <a:rPr lang="ko-KR" altLang="en-US" sz="13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 ≈ </m:t>
                    </m:r>
                  </m:oMath>
                </a14:m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0% </a:t>
                </a:r>
                <a14:m>
                  <m:oMath xmlns:m="http://schemas.openxmlformats.org/officeDocument/2006/math">
                    <m:r>
                      <a:rPr lang="ko-KR" altLang="en-US" sz="13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 →  </m:t>
                    </m:r>
                  </m:oMath>
                </a14:m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디저트</a:t>
                </a:r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 </a:t>
                </a:r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카테고리</a:t>
                </a:r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 </a:t>
                </a:r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식당은</a:t>
                </a:r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 </a:t>
                </a:r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영원히</a:t>
                </a:r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 </a:t>
                </a:r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추천</a:t>
                </a:r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 안 됨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0" y="1627632"/>
                <a:ext cx="9601200" cy="292388"/>
              </a:xfrm>
              <a:prstGeom prst="rect">
                <a:avLst/>
              </a:prstGeom>
              <a:blipFill>
                <a:blip r:embed="rId3"/>
                <a:stretch>
                  <a:fillRect l="-63"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265176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5C5C"/>
                </a:solidFill>
                <a:latin typeface="배달의민족 주아"/>
              </a:rPr>
              <a:t>실제로 민수가 디저트를 먹고 싶은 날이 있어도 — 시스템은 절대 추천하지 않습니다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90672"/>
            <a:ext cx="5120640" cy="3090672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186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문제: 확률이 0%에 수렴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75887"/>
            <a:ext cx="4572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5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🍰 디저트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9475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4572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599431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🍝 양식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59943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1E"/>
                </a:solidFill>
                <a:latin typeface="배달의민족 주아"/>
              </a:rPr>
              <a:t>-0.5 → 0.8%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85231"/>
            <a:ext cx="4572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40410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🍣 일식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40410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0.0 → 2.2%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090672"/>
            <a:ext cx="5852160" cy="3090672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0" y="3090672"/>
            <a:ext cx="585216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0" y="32186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3ABD85"/>
                </a:solidFill>
                <a:latin typeface="배달의민족 주아"/>
              </a:rPr>
              <a:t>해결</a:t>
            </a:r>
            <a:r>
              <a:rPr sz="1400" b="1" dirty="0">
                <a:solidFill>
                  <a:srgbClr val="3ABD85"/>
                </a:solidFill>
                <a:latin typeface="배달의민족 주아"/>
              </a:rPr>
              <a:t> </a:t>
            </a:r>
            <a:r>
              <a:rPr sz="1400" b="1" dirty="0" err="1">
                <a:solidFill>
                  <a:srgbClr val="3ABD85"/>
                </a:solidFill>
                <a:latin typeface="배달의민족 주아"/>
              </a:rPr>
              <a:t>방향</a:t>
            </a:r>
            <a:r>
              <a:rPr sz="1400" b="1" dirty="0">
                <a:solidFill>
                  <a:srgbClr val="3ABD85"/>
                </a:solidFill>
                <a:latin typeface="배달의민족 주아"/>
              </a:rPr>
              <a:t>: </a:t>
            </a:r>
            <a:r>
              <a:rPr sz="1400" b="1" dirty="0" err="1">
                <a:solidFill>
                  <a:srgbClr val="3ABD85"/>
                </a:solidFill>
                <a:latin typeface="배달의민족 주아"/>
              </a:rPr>
              <a:t>최소</a:t>
            </a:r>
            <a:r>
              <a:rPr sz="1400" b="1" dirty="0">
                <a:solidFill>
                  <a:srgbClr val="3ABD85"/>
                </a:solidFill>
                <a:latin typeface="배달의민족 주아"/>
              </a:rPr>
              <a:t> </a:t>
            </a:r>
            <a:r>
              <a:rPr sz="1400" b="1" dirty="0" err="1">
                <a:solidFill>
                  <a:srgbClr val="3ABD85"/>
                </a:solidFill>
                <a:latin typeface="배달의민족 주아"/>
              </a:rPr>
              <a:t>확률</a:t>
            </a:r>
            <a:r>
              <a:rPr sz="1400" b="1" dirty="0">
                <a:solidFill>
                  <a:srgbClr val="3ABD85"/>
                </a:solidFill>
                <a:latin typeface="배달의민족 주아"/>
              </a:rPr>
              <a:t> </a:t>
            </a:r>
            <a:r>
              <a:rPr sz="1400" b="1" dirty="0" err="1">
                <a:solidFill>
                  <a:srgbClr val="3ABD85"/>
                </a:solidFill>
                <a:latin typeface="배달의민족 주아"/>
              </a:rPr>
              <a:t>보장</a:t>
            </a:r>
            <a:endParaRPr sz="1400" b="1" dirty="0">
              <a:solidFill>
                <a:srgbClr val="3ABD85"/>
              </a:solidFill>
              <a:latin typeface="배달의민족 주아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0" y="3584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어떤 카테고리도 완전히 0%가 되지 않도록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5943600" y="3977639"/>
                <a:ext cx="54864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b="1" i="1" dirty="0" smtClean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ko-KR" sz="14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ko-KR" altLang="en-US" sz="14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𝒇𝒊𝒏𝒂𝒍</m:t>
                      </m:r>
                      <m:r>
                        <a:rPr lang="en-US" altLang="ko-KR" sz="14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4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ko-KR" sz="14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ko-KR" altLang="en-US" sz="14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ko-KR" altLang="en-US" sz="14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ko-KR" altLang="en-US" sz="1400" b="1" i="1" dirty="0" smtClean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altLang="ko-KR" sz="1400" b="1" i="1" dirty="0" smtClean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) × </m:t>
                      </m:r>
                      <m:r>
                        <a:rPr lang="ko-KR" altLang="en-US" sz="14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ko-KR" sz="14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ko-KR" altLang="en-US" sz="14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𝒔𝒐𝒇𝒕𝒎𝒂𝒙</m:t>
                      </m:r>
                      <m:r>
                        <a:rPr lang="en-US" altLang="ko-KR" sz="14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4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ko-KR" sz="14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ko-KR" altLang="en-US" sz="14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altLang="ko-KR" sz="14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ko-KR" altLang="en-US" sz="14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977639"/>
                <a:ext cx="5486400" cy="307777"/>
              </a:xfrm>
              <a:prstGeom prst="rect">
                <a:avLst/>
              </a:prstGeom>
              <a:blipFill>
                <a:blip r:embed="rId4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5943600" y="4389120"/>
                <a:ext cx="54864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ko-KR" altLang="en-US" sz="1300" b="0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sz="1300" b="0" dirty="0">
                    <a:solidFill>
                      <a:srgbClr val="222222"/>
                    </a:solidFill>
                    <a:latin typeface="배달의민족 주아"/>
                  </a:rPr>
                  <a:t> = 0.1,  K = 7  </a:t>
                </a:r>
                <a14:m>
                  <m:oMath xmlns:m="http://schemas.openxmlformats.org/officeDocument/2006/math">
                    <m:r>
                      <a:rPr lang="ko-KR" altLang="en-US" sz="1300" b="0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→  </m:t>
                    </m:r>
                  </m:oMath>
                </a14:m>
                <a:r>
                  <a:rPr sz="1300" b="0" dirty="0" err="1">
                    <a:solidFill>
                      <a:srgbClr val="222222"/>
                    </a:solidFill>
                    <a:latin typeface="배달의민족 주아"/>
                  </a:rPr>
                  <a:t>최소</a:t>
                </a:r>
                <a:r>
                  <a:rPr sz="1300" b="0" dirty="0">
                    <a:solidFill>
                      <a:srgbClr val="222222"/>
                    </a:solidFill>
                    <a:latin typeface="배달의민족 주아"/>
                  </a:rPr>
                  <a:t> </a:t>
                </a:r>
                <a:r>
                  <a:rPr sz="1300" b="0" dirty="0" err="1">
                    <a:solidFill>
                      <a:srgbClr val="222222"/>
                    </a:solidFill>
                    <a:latin typeface="배달의민족 주아"/>
                  </a:rPr>
                  <a:t>확률</a:t>
                </a:r>
                <a14:m>
                  <m:oMath xmlns:m="http://schemas.openxmlformats.org/officeDocument/2006/math">
                    <m:r>
                      <a:rPr lang="ko-KR" altLang="en-US" sz="1300" b="0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 ≈ </m:t>
                    </m:r>
                  </m:oMath>
                </a14:m>
                <a:r>
                  <a:rPr sz="1300" b="0" dirty="0">
                    <a:solidFill>
                      <a:srgbClr val="222222"/>
                    </a:solidFill>
                    <a:latin typeface="배달의민족 주아"/>
                  </a:rPr>
                  <a:t>1.4%</a:t>
                </a: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389120"/>
                <a:ext cx="5486400" cy="292388"/>
              </a:xfrm>
              <a:prstGeom prst="rect">
                <a:avLst/>
              </a:prstGeom>
              <a:blipFill>
                <a:blip r:embed="rId5"/>
                <a:stretch>
                  <a:fillRect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943600" y="4773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BD85"/>
                </a:solidFill>
                <a:latin typeface="배달의민족 주아"/>
              </a:rPr>
              <a:t>→ 민수가 원하면 디저트도 추천받을 수 있음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해결책 3 — Dirichlet Floor (최소 확률 보장)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모든 카테고리에 최소 1.4%의 확률을 보장합니다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155680" cy="804672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40080" y="1234440"/>
                <a:ext cx="107899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ko-KR" altLang="en-US" sz="1400" b="1" i="1" dirty="0" smtClean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1400" b="1" i="1" dirty="0" err="1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ko-KR" altLang="en-US" sz="1400" b="1" i="1" dirty="0" err="1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𝒇𝒊𝒏𝒂𝒍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400" b="1" i="1" dirty="0" err="1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ko-KR" altLang="en-US" sz="1400" b="1" i="1" dirty="0" smtClean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ko-KR" sz="1400" b="1" i="1" dirty="0" smtClean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) × </m:t>
                    </m:r>
                    <m:r>
                      <a:rPr lang="ko-KR" altLang="en-US" sz="1400" b="1" i="1" dirty="0" err="1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1400" b="1" i="1" dirty="0" err="1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ko-KR" altLang="en-US" sz="1400" b="1" i="1" dirty="0" err="1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𝒔𝒐𝒇𝒕𝒎𝒂𝒙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400" b="1" i="1" dirty="0" err="1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) + 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  →  </m:t>
                    </m:r>
                  </m:oMath>
                </a14:m>
                <a:r>
                  <a:rPr sz="1400" b="1" dirty="0" err="1">
                    <a:solidFill>
                      <a:srgbClr val="3ABD85"/>
                    </a:solidFill>
                    <a:latin typeface="배달의민족 주아"/>
                  </a:rPr>
                  <a:t>최소</a:t>
                </a:r>
                <a:r>
                  <a:rPr sz="1400" b="1" dirty="0">
                    <a:solidFill>
                      <a:srgbClr val="3ABD85"/>
                    </a:solidFill>
                    <a:latin typeface="배달의민족 주아"/>
                  </a:rPr>
                  <a:t> </a:t>
                </a:r>
                <a:r>
                  <a:rPr sz="1400" b="1" dirty="0" err="1">
                    <a:solidFill>
                      <a:srgbClr val="3ABD85"/>
                    </a:solidFill>
                    <a:latin typeface="배달의민족 주아"/>
                  </a:rPr>
                  <a:t>확률</a:t>
                </a:r>
                <a:r>
                  <a:rPr sz="1400" b="1" dirty="0">
                    <a:solidFill>
                      <a:srgbClr val="3ABD85"/>
                    </a:solidFill>
                    <a:latin typeface="배달의민족 주아"/>
                  </a:rPr>
                  <a:t> = </a:t>
                </a:r>
                <a14:m>
                  <m:oMath xmlns:m="http://schemas.openxmlformats.org/officeDocument/2006/math">
                    <m:r>
                      <a:rPr lang="ko-KR" altLang="en-US" sz="1400" b="1" i="1" dirty="0" smtClean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 ≈ 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ko-KR" altLang="en-US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ko-KR" sz="1400" b="1" i="1" dirty="0">
                        <a:solidFill>
                          <a:srgbClr val="3ABD85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sz="1400" b="1" dirty="0">
                  <a:solidFill>
                    <a:srgbClr val="3ABD85"/>
                  </a:solidFill>
                  <a:latin typeface="배달의민족 주아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234440"/>
                <a:ext cx="10789920" cy="307777"/>
              </a:xfrm>
              <a:prstGeom prst="rect">
                <a:avLst/>
              </a:prstGeom>
              <a:blipFill>
                <a:blip r:embed="rId2"/>
                <a:stretch>
                  <a:fillRect t="-2000" b="-2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02920" y="20299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5669280" cy="28346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45720" cy="28346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54864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def apply_floor(probs, eps=0.1, K=7):</a:t>
            </a:r>
          </a:p>
          <a:p>
            <a:r>
              <a:rPr sz="1100">
                <a:solidFill>
                  <a:srgbClr val="555555"/>
                </a:solidFill>
                <a:latin typeface="Consolas"/>
              </a:rPr>
              <a:t>    """</a:t>
            </a:r>
          </a:p>
          <a:p>
            <a:r>
              <a:rPr sz="1100">
                <a:solidFill>
                  <a:srgbClr val="555555"/>
                </a:solidFill>
                <a:latin typeface="Consolas"/>
              </a:rPr>
              <a:t>    eps: 최소 확률 비중 (0.1 = 10%)</a:t>
            </a:r>
          </a:p>
          <a:p>
            <a:r>
              <a:rPr sz="1100">
                <a:solidFill>
                  <a:srgbClr val="555555"/>
                </a:solidFill>
                <a:latin typeface="Consolas"/>
              </a:rPr>
              <a:t>    K  : 카테고리 수</a:t>
            </a:r>
          </a:p>
          <a:p>
            <a:r>
              <a:rPr sz="1100">
                <a:solidFill>
                  <a:srgbClr val="555555"/>
                </a:solidFill>
                <a:latin typeface="Consolas"/>
              </a:rPr>
              <a:t>    """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return {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  k: (1 - eps) * p + eps / K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  for k, p in probs.items()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}</a:t>
            </a:r>
          </a:p>
          <a:p>
            <a:endParaRPr sz="1100">
              <a:solidFill>
                <a:srgbClr val="FFFFFF"/>
              </a:solidFill>
              <a:latin typeface="Consolas"/>
            </a:endParaRP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# 적용 예시</a:t>
            </a:r>
          </a:p>
          <a:p>
            <a:r>
              <a:rPr sz="1100">
                <a:solidFill>
                  <a:srgbClr val="3ABD85"/>
                </a:solidFill>
                <a:latin typeface="Consolas"/>
              </a:rPr>
              <a:t>softmax_probs = {'분식':0.71,'한식':0.18,'디저트':0.0,...}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final = apply_floor(softmax_probs)  # 디저트 → 1.4%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적용 전 / 후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957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배달의민족 주아"/>
              </a:rPr>
              <a:t>카테고리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3957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5C5C"/>
                </a:solidFill>
                <a:latin typeface="배달의민족 주아"/>
              </a:rPr>
              <a:t>적용 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3957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ABD85"/>
                </a:solidFill>
                <a:latin typeface="배달의민족 주아"/>
              </a:rPr>
              <a:t>적용 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43200"/>
            <a:ext cx="521208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2834640"/>
            <a:ext cx="521208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28895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분식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28895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71%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8895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58BD4"/>
                </a:solidFill>
                <a:latin typeface="배달의민족 주아"/>
              </a:rPr>
              <a:t>65%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73552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33284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한식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33284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3284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ABD85"/>
                </a:solidFill>
                <a:latin typeface="배달의민족 주아"/>
              </a:rPr>
              <a:t>17%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712464"/>
            <a:ext cx="521208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37673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양식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37673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7673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151376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4206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중식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206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206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590288"/>
            <a:ext cx="521208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46451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일식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46451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46451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029200"/>
            <a:ext cx="5212080" cy="384048"/>
          </a:xfrm>
          <a:prstGeom prst="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2" y="50840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디저트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50840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5C5C"/>
                </a:solidFill>
                <a:latin typeface="배달의민족 주아"/>
              </a:rPr>
              <a:t>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50840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ABD85"/>
                </a:solidFill>
                <a:latin typeface="배달의민족 주아"/>
              </a:rPr>
              <a:t>1.4%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468112"/>
            <a:ext cx="521208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3952" y="55229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기타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55229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55229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6035040"/>
            <a:ext cx="5212080" cy="54864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6126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디저트 0% → 1.4%  가끔은 의외의 추천도 가능!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최종 수식 — 3가지를 모두 합칩니다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Temperature + Temporal Decay + Dirichlet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155680" cy="1170432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4864" cy="1170432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161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01E"/>
                </a:solidFill>
                <a:latin typeface="배달의민족 주아"/>
              </a:rPr>
              <a:t>① Temporal Decay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오래된 피드백 가중치 줄이기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280160"/>
            <a:ext cx="6492240" cy="82296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074920" y="1399032"/>
                <a:ext cx="6217920" cy="343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b="1" i="1" dirty="0" smtClean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ko-KR" sz="1600" b="1" i="1" dirty="0" err="1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ko-KR" altLang="en-US" sz="1600" b="1" i="1" dirty="0" err="1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𝒆𝒇𝒇</m:t>
                      </m:r>
                      <m:r>
                        <a:rPr lang="en-US" altLang="ko-KR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b="1" i="1" dirty="0" err="1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ko-KR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ko-KR" altLang="en-US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ko-KR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b="1" i="1" dirty="0" err="1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ko-KR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) × </m:t>
                      </m:r>
                      <m:r>
                        <a:rPr lang="ko-KR" altLang="en-US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ko-KR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o-KR" altLang="en-US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en-US" altLang="ko-KR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^(</m:t>
                      </m:r>
                      <m:r>
                        <a:rPr lang="ko-KR" altLang="en-US" sz="1600" b="1" i="1" dirty="0" err="1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경과</m:t>
                      </m:r>
                      <m:r>
                        <a:rPr lang="ko-KR" altLang="en-US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600" b="1" i="1" dirty="0" err="1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일수</m:t>
                      </m:r>
                      <m:r>
                        <a:rPr lang="en-US" altLang="ko-KR" sz="1600" b="1" i="1" dirty="0">
                          <a:solidFill>
                            <a:srgbClr val="F5A01E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920" y="1399032"/>
                <a:ext cx="6217920" cy="343235"/>
              </a:xfrm>
              <a:prstGeom prst="rect">
                <a:avLst/>
              </a:prstGeom>
              <a:blipFill>
                <a:blip r:embed="rId2"/>
                <a:stretch>
                  <a:fillRect t="-5357" b="-19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669280" y="231343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11155680" cy="1170432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441448"/>
            <a:ext cx="54864" cy="1170432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58BD4"/>
                </a:solidFill>
                <a:latin typeface="배달의민족 주아"/>
              </a:rPr>
              <a:t>② Temperature Softmax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169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확률 분포 평탄화 (다양성 확보)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578608"/>
            <a:ext cx="6492240" cy="82296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074920" y="2697480"/>
                <a:ext cx="621792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𝒓𝒂𝒘</m:t>
                      </m:r>
                      <m:r>
                        <a:rPr lang="en-US" sz="1600" b="1" i="1" dirty="0" smtClean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b="1" i="1" dirty="0" smtClean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𝒑𝒓𝒐𝒃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err="1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600" b="1" i="1" dirty="0" err="1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600" b="1" i="1" dirty="0" err="1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b="1" i="1" dirty="0" err="1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𝒆𝒇𝒇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err="1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) / 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) / </m:t>
                      </m:r>
                      <m:r>
                        <a:rPr lang="en-US" sz="1600" b="1" i="0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600" b="1" i="1" dirty="0" err="1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600" b="1" i="1" dirty="0" err="1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b="1" i="1" dirty="0" err="1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𝒆𝒇𝒇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) / 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600" b="1" i="1" dirty="0">
                          <a:solidFill>
                            <a:srgbClr val="358BD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920" y="2697480"/>
                <a:ext cx="6217920" cy="338554"/>
              </a:xfrm>
              <a:prstGeom prst="rect">
                <a:avLst/>
              </a:prstGeom>
              <a:blipFill>
                <a:blip r:embed="rId3"/>
                <a:stretch>
                  <a:fillRect t="-727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669280" y="3611880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39896"/>
            <a:ext cx="11155680" cy="1170432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39896"/>
            <a:ext cx="54864" cy="1170432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130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BD85"/>
                </a:solidFill>
                <a:latin typeface="배달의민족 주아"/>
              </a:rPr>
              <a:t>③ Dirichlet Floor 적용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최소 확률 1.4% 보장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877056"/>
            <a:ext cx="6492240" cy="82296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5074920" y="3995928"/>
                <a:ext cx="621792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b="1" i="1" dirty="0" smtClean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ko-KR" sz="16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ko-KR" altLang="en-US" sz="16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𝒇𝒊𝒏𝒂𝒍</m:t>
                      </m:r>
                      <m:r>
                        <a:rPr lang="en-US" altLang="ko-KR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ko-KR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ko-KR" altLang="en-US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ko-KR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o-KR" altLang="en-US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ko-KR" altLang="en-US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ko-KR" altLang="en-US" sz="16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𝒓𝒂𝒘</m:t>
                      </m:r>
                      <m:r>
                        <a:rPr lang="en-US" altLang="ko-KR" sz="16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ko-KR" altLang="en-US" sz="16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𝒑𝒓𝒐𝒃</m:t>
                      </m:r>
                      <m:r>
                        <a:rPr lang="en-US" altLang="ko-KR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b="1" i="1" dirty="0" err="1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ko-KR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ko-KR" altLang="en-US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ko-KR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o-KR" altLang="en-US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ko-KR" altLang="en-US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 / </m:t>
                      </m:r>
                      <m:r>
                        <a:rPr lang="ko-KR" altLang="en-US" sz="1600" b="1" i="1" dirty="0">
                          <a:solidFill>
                            <a:srgbClr val="3ABD85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920" y="3995928"/>
                <a:ext cx="6217920" cy="338554"/>
              </a:xfrm>
              <a:prstGeom prst="rect">
                <a:avLst/>
              </a:prstGeom>
              <a:blipFill>
                <a:blip r:embed="rId4"/>
                <a:stretch>
                  <a:fillRect t="-727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5669280" y="4910328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38344"/>
            <a:ext cx="11155680" cy="1170432"/>
          </a:xfrm>
          <a:prstGeom prst="round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038344"/>
            <a:ext cx="54864" cy="1170432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1114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6FD4"/>
                </a:solidFill>
                <a:latin typeface="배달의민족 주아"/>
              </a:rPr>
              <a:t>④ 추천 정렬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513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P_final 높은 순서로 식당 추천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5175504"/>
            <a:ext cx="6492240" cy="82296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074920" y="5294376"/>
                <a:ext cx="621792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b="1" i="1" dirty="0" smtClean="0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𝒓𝒆𝒔𝒕𝒂𝒖𝒓𝒂𝒏𝒕𝒔</m:t>
                      </m:r>
                      <m:r>
                        <a:rPr lang="en-US" altLang="ko-KR" sz="1600" b="1" i="1" dirty="0" err="1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o-KR" altLang="en-US" sz="1600" b="1" i="1" dirty="0" err="1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𝒔𝒐𝒓𝒕</m:t>
                      </m:r>
                      <m:r>
                        <a:rPr lang="en-US" altLang="ko-KR" sz="1600" b="1" i="1" dirty="0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b="1" i="1" dirty="0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𝒌𝒆𝒚</m:t>
                      </m:r>
                      <m:r>
                        <a:rPr lang="en-US" altLang="ko-KR" sz="1600" b="1" i="1" dirty="0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600" b="1" i="1" dirty="0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𝒍𝒂𝒎𝒃𝒅𝒂</m:t>
                      </m:r>
                      <m:r>
                        <a:rPr lang="ko-KR" altLang="en-US" sz="1600" b="1" i="1" dirty="0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600" b="1" i="1" dirty="0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ko-KR" sz="1600" b="1" i="1" dirty="0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en-US" sz="1600" b="1" i="1" dirty="0" err="1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ko-KR" sz="1600" b="1" i="1" dirty="0" err="1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ko-KR" altLang="en-US" sz="1600" b="1" i="1" dirty="0" err="1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𝒇𝒊𝒏𝒂𝒍</m:t>
                      </m:r>
                      <m:r>
                        <a:rPr lang="en-US" altLang="ko-KR" sz="1600" b="1" i="1" dirty="0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ko-KR" altLang="en-US" sz="1600" b="1" i="1" dirty="0" err="1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ko-KR" sz="1600" b="1" i="1" dirty="0" err="1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o-KR" altLang="en-US" sz="1600" b="1" i="1" dirty="0" err="1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𝒄𝒂𝒕𝒆𝒈𝒐𝒓𝒚</m:t>
                      </m:r>
                      <m:r>
                        <a:rPr lang="en-US" altLang="ko-KR" sz="1600" b="1" i="1" dirty="0">
                          <a:solidFill>
                            <a:srgbClr val="8B6FD4"/>
                          </a:solidFill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920" y="5294376"/>
                <a:ext cx="6217920" cy="338554"/>
              </a:xfrm>
              <a:prstGeom prst="rect">
                <a:avLst/>
              </a:prstGeom>
              <a:blipFill>
                <a:blip r:embed="rId5"/>
                <a:stretch>
                  <a:fillRect t="-727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민수에게 최종 추천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3가지 장치를 모두 적용한 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0" cy="5394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🧑 민수 현재 상태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8346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분식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3.5 → 감쇠 후 0.8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28346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B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99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BD85"/>
                </a:solidFill>
                <a:latin typeface="배달의민족 주아"/>
              </a:rPr>
              <a:t>한식 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2.1 → 감쇠 후 1.8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28346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9136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배달의민족 주아"/>
              </a:rPr>
              <a:t>양식 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-1.2 → 감쇠 후 -0.5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28346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배달의민족 주아"/>
              </a:rPr>
              <a:t>디저트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ABD85"/>
                </a:solidFill>
                <a:latin typeface="배달의민족 주아"/>
              </a:rPr>
              <a:t>최근 3주
샐러드 붐업↑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097280"/>
            <a:ext cx="7406640" cy="539496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1234440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58BD4"/>
                </a:solidFill>
                <a:latin typeface="배달의민족 주아"/>
              </a:rPr>
              <a:t>최종 추천 결과 TOP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481328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(Decay + Temperature + Floor 모두 적용)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1755648"/>
            <a:ext cx="7040880" cy="749808"/>
          </a:xfrm>
          <a:prstGeom prst="roundRect">
            <a:avLst/>
          </a:prstGeom>
          <a:solidFill>
            <a:srgbClr val="358BD4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26280" y="1847088"/>
            <a:ext cx="384048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19110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BD4"/>
                </a:solidFill>
                <a:latin typeface="배달의민족 주아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1847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배달의민족 주아"/>
              </a:rPr>
              <a:t>🍲 한국관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2624" y="21945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배달의민족 주아"/>
              </a:rPr>
              <a:t>한식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883664"/>
            <a:ext cx="1371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66960" y="19110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BD85"/>
                </a:solidFill>
                <a:latin typeface="배달의민족 주아"/>
              </a:rPr>
              <a:t>P = 38%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2651760"/>
            <a:ext cx="7040880" cy="749808"/>
          </a:xfrm>
          <a:prstGeom prst="roundRect">
            <a:avLst/>
          </a:prstGeom>
          <a:solidFill>
            <a:srgbClr val="358BD4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26280" y="2743200"/>
            <a:ext cx="384048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80" y="28072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BD4"/>
                </a:solidFill>
                <a:latin typeface="배달의민족 주아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2743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배달의민족 주아"/>
              </a:rPr>
              <a:t>🥗 샐러드팩토리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2624" y="30906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배달의민족 주아"/>
              </a:rPr>
              <a:t>양식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2779776"/>
            <a:ext cx="1371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66960" y="28072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BD85"/>
                </a:solidFill>
                <a:latin typeface="배달의민족 주아"/>
              </a:rPr>
              <a:t>P = 22%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60" y="3547872"/>
            <a:ext cx="70408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526280" y="3639312"/>
            <a:ext cx="384048" cy="56692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26280" y="3703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BD4"/>
                </a:solidFill>
                <a:latin typeface="배달의민족 주아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2624" y="36393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🍱 경양식돈까스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2624" y="39867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분식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3675888"/>
            <a:ext cx="1371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66960" y="37033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배달의민족 주아"/>
              </a:rPr>
              <a:t>P = 18%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0" y="4443984"/>
            <a:ext cx="70408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526280" y="4535424"/>
            <a:ext cx="384048" cy="56692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26280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BD4"/>
                </a:solidFill>
                <a:latin typeface="배달의민족 주아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92624" y="45354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🥘 뚝배기집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92624" y="4882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6960" y="4572000"/>
            <a:ext cx="1371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966960" y="45994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배달의민족 주아"/>
              </a:rPr>
              <a:t>P = 12%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80560" y="5340096"/>
            <a:ext cx="70408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526280" y="5431536"/>
            <a:ext cx="384048" cy="56692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26280" y="5495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BD4"/>
                </a:solidFill>
                <a:latin typeface="배달의민족 주아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92624" y="54315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🍰 카페베네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92624" y="5779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66960" y="5468112"/>
            <a:ext cx="1371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966960" y="54955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배달의민족 주아"/>
              </a:rPr>
              <a:t>P = 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다이어트 시작 후 — 한식·샐러드가 상위권  |  돈까스는 3위로 내려감  |  디저트도 가끔 등장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88888"/>
                </a:solidFill>
                <a:latin typeface="배달의민족 주아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98448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22222"/>
                </a:solidFill>
                <a:latin typeface="배달의민족 주아"/>
              </a:rPr>
              <a:t>민수의 추천을 개선한 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6858000" cy="3175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2651760" cy="3200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2651760" cy="635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88888"/>
                </a:solidFill>
                <a:latin typeface="배달의민족 주아"/>
              </a:rPr>
              <a:t>기존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배달의민족 주아"/>
              </a:rPr>
              <a:t>평점 기반</a:t>
            </a:r>
            <a:r>
              <a:rPr lang="en-US" sz="1600" b="0">
                <a:solidFill>
                  <a:srgbClr val="555555"/>
                </a:solidFill>
                <a:latin typeface="배달의민족 주아"/>
              </a:rPr>
              <a:t> -&gt; </a:t>
            </a:r>
            <a:r>
              <a:rPr sz="1600" b="0">
                <a:solidFill>
                  <a:srgbClr val="555555"/>
                </a:solidFill>
                <a:latin typeface="배달의민족 주아"/>
              </a:rPr>
              <a:t>민수 취향 무시</a:t>
            </a:r>
            <a:endParaRPr lang="en-US" sz="1600" b="0">
              <a:solidFill>
                <a:srgbClr val="555555"/>
              </a:solidFill>
              <a:latin typeface="배달의민족 주아"/>
            </a:endParaRPr>
          </a:p>
          <a:p>
            <a:pPr algn="l"/>
            <a:endParaRPr lang="en-US" sz="1600" b="0">
              <a:solidFill>
                <a:srgbClr val="555555"/>
              </a:solidFill>
              <a:latin typeface="배달의민족 주아"/>
            </a:endParaRPr>
          </a:p>
          <a:p>
            <a:pPr algn="l"/>
            <a:r>
              <a:rPr sz="1600" b="0">
                <a:solidFill>
                  <a:srgbClr val="555555"/>
                </a:solidFill>
                <a:latin typeface="배달의민족 주아"/>
              </a:rPr>
              <a:t>돈까스 원하는데 파스타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376732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423160"/>
            <a:ext cx="2651760" cy="320040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39" y="2423160"/>
            <a:ext cx="265176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599" y="2542032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58BD4"/>
                </a:solidFill>
                <a:latin typeface="배달의민족 주아"/>
              </a:rPr>
              <a:t>Softmax 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3017520"/>
            <a:ext cx="23774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피드백 → θ 업데이트
→ 취향에 맞는 확률 분포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7" y="376732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23160"/>
            <a:ext cx="2651760" cy="32004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2423160"/>
            <a:ext cx="265176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542032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01E"/>
                </a:solidFill>
                <a:latin typeface="배달의민족 주아"/>
              </a:rPr>
              <a:t>3가지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23774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Temperature (버블)
Decay (취향변화)
Floor (0% 방지)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376732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9" y="2423160"/>
            <a:ext cx="2651760" cy="3200400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81159" y="2423160"/>
            <a:ext cx="265176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19" y="2542032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ABD85"/>
                </a:solidFill>
                <a:latin typeface="배달의민족 주아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017520"/>
            <a:ext cx="23774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민수의 취향을 실시간 반영
RLHF와 같은 원리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79008"/>
            <a:ext cx="10908792" cy="9144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870448"/>
            <a:ext cx="105430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사람의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선택이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그래디언트가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되어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확률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분포를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최적화하는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
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RLHF와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같은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원리의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온라인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학습</a:t>
            </a:r>
            <a:r>
              <a:rPr sz="1400" b="0" dirty="0">
                <a:solidFill>
                  <a:srgbClr val="222222"/>
                </a:solidFill>
                <a:latin typeface="배달의민족 주아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배달의민족 주아"/>
              </a:rPr>
              <a:t>시스템</a:t>
            </a:r>
            <a:endParaRPr sz="1400" b="0" dirty="0">
              <a:solidFill>
                <a:srgbClr val="222222"/>
              </a:solidFill>
              <a:latin typeface="배달의민족 주아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왜 TensorFlow를 그대로 쓰지 않았나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5394960" cy="50292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5C5C"/>
                </a:solidFill>
                <a:latin typeface="배달의민족 주아"/>
              </a:rPr>
              <a:t>TensorFlow 배치 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15568"/>
            <a:ext cx="5394960" cy="50292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58BD4"/>
                </a:solidFill>
                <a:latin typeface="배달의민족 주아"/>
              </a:rPr>
              <a:t>우리 시스템 (Online SGD)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19072"/>
            <a:ext cx="21031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33472" y="1719072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19072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8836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학습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188366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model.fit() 배치 학습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355080" y="1883664"/>
                <a:ext cx="5257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dirty="0" err="1">
                    <a:solidFill>
                      <a:srgbClr val="358BD4"/>
                    </a:solidFill>
                    <a:latin typeface="배달의민족 주아"/>
                  </a:rPr>
                  <a:t>피드백마다</a:t>
                </a:r>
                <a14:m>
                  <m:oMath xmlns:m="http://schemas.openxmlformats.org/officeDocument/2006/math">
                    <m:r>
                      <a:rPr lang="ko-KR" altLang="en-US" sz="1200" b="0" i="1" dirty="0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b="0" i="1" dirty="0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sz="1200" b="0" i="1" dirty="0" smtClean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 += </m:t>
                    </m:r>
                    <m:r>
                      <a:rPr lang="ko-KR" altLang="en-US" sz="1200" b="0" i="1" dirty="0">
                        <a:solidFill>
                          <a:srgbClr val="358BD4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sz="1200" b="0" dirty="0">
                  <a:solidFill>
                    <a:srgbClr val="358BD4"/>
                  </a:solidFill>
                  <a:latin typeface="배달의민족 주아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080" y="1883664"/>
                <a:ext cx="5257800" cy="276999"/>
              </a:xfrm>
              <a:prstGeom prst="rect">
                <a:avLst/>
              </a:prstGeom>
              <a:blipFill>
                <a:blip r:embed="rId2"/>
                <a:stretch>
                  <a:fillRect l="-116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457200" y="2377440"/>
            <a:ext cx="2103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33472" y="2377440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377440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5420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반영 속도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25420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재학습 때까지 미반영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4203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358BD4"/>
                </a:solidFill>
                <a:latin typeface="배달의민족 주아"/>
              </a:rPr>
              <a:t>즉시</a:t>
            </a:r>
            <a:r>
              <a:rPr sz="1200" b="0" dirty="0">
                <a:solidFill>
                  <a:srgbClr val="358BD4"/>
                </a:solidFill>
                <a:latin typeface="배달의민족 주아"/>
              </a:rPr>
              <a:t> </a:t>
            </a:r>
            <a:r>
              <a:rPr sz="1200" b="0" dirty="0" err="1">
                <a:solidFill>
                  <a:srgbClr val="358BD4"/>
                </a:solidFill>
                <a:latin typeface="배달의민족 주아"/>
              </a:rPr>
              <a:t>반영</a:t>
            </a:r>
            <a:r>
              <a:rPr sz="1200" b="0" dirty="0">
                <a:solidFill>
                  <a:srgbClr val="358BD4"/>
                </a:solidFill>
                <a:latin typeface="배달의민족 주아"/>
              </a:rPr>
              <a:t> (</a:t>
            </a:r>
            <a:r>
              <a:rPr sz="1200" b="0" dirty="0" err="1">
                <a:solidFill>
                  <a:srgbClr val="358BD4"/>
                </a:solidFill>
                <a:latin typeface="배달의민족 주아"/>
              </a:rPr>
              <a:t>밀리초</a:t>
            </a:r>
            <a:r>
              <a:rPr sz="1200" b="0" dirty="0">
                <a:solidFill>
                  <a:srgbClr val="358BD4"/>
                </a:solidFill>
                <a:latin typeface="배달의민족 주아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35808"/>
            <a:ext cx="21031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33472" y="3035808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035808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2004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신규 유저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32004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데이터 없으면 불가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004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월드컵으로 즉시 시작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94176"/>
            <a:ext cx="2103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633472" y="3694176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3694176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858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파라미터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38587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1,104개+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85876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7개 (카테고리 수)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352544"/>
            <a:ext cx="21031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633472" y="4352544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4352544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45171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필터버블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4912" y="45171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별도 처리 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51713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Temperature 내장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10912"/>
            <a:ext cx="2103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33472" y="5010912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63640" y="5010912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" y="5175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취향 변화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4912" y="517550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재학습 시에만 반영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17550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Temporal Decay 내장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669280"/>
            <a:ext cx="21031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633472" y="5669280"/>
            <a:ext cx="3547872" cy="658368"/>
          </a:xfrm>
          <a:prstGeom prst="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63640" y="5669280"/>
            <a:ext cx="5486400" cy="658368"/>
          </a:xfrm>
          <a:prstGeom prst="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" y="5833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수학 기반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24912" y="58338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Softmax Regression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83387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Softmax Regression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6364224"/>
            <a:ext cx="11274552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6400800"/>
            <a:ext cx="10908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수학적으로 동일 — 단 실시간·경량·필터버블해결·취향변화대응까지 모두 갖춘 방식으로 전환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n8n으로 </a:t>
            </a:r>
            <a:r>
              <a:rPr lang="ko-KR" altLang="en-US"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연결</a:t>
            </a:r>
            <a:endParaRPr sz="2600" b="1">
              <a:solidFill>
                <a:srgbClr val="222222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사용자 행동 → 자동 로짓 업데이트 → 개인화 추천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611880" cy="3840480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361188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34084"/>
            <a:ext cx="3611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3337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222222"/>
                </a:solidFill>
                <a:latin typeface="배달의민족 주아"/>
              </a:rPr>
              <a:t>POST /webhook/worldcup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24912"/>
            <a:ext cx="315468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 err="1">
                <a:solidFill>
                  <a:srgbClr val="555555"/>
                </a:solidFill>
                <a:latin typeface="배달의민족 주아"/>
              </a:rPr>
              <a:t>worldcup_sessions</a:t>
            </a:r>
            <a:r>
              <a:rPr sz="1300" b="0" dirty="0">
                <a:solidFill>
                  <a:srgbClr val="555555"/>
                </a:solidFill>
                <a:latin typeface="배달의민족 주아"/>
              </a:rPr>
              <a:t> </a:t>
            </a:r>
            <a:r>
              <a:rPr sz="1300" b="0" dirty="0" err="1">
                <a:solidFill>
                  <a:srgbClr val="555555"/>
                </a:solidFill>
                <a:latin typeface="배달의민족 주아"/>
              </a:rPr>
              <a:t>저장</a:t>
            </a:r>
            <a:r>
              <a:rPr sz="1300" b="0" dirty="0">
                <a:solidFill>
                  <a:srgbClr val="555555"/>
                </a:solidFill>
                <a:latin typeface="배달의민족 주아"/>
              </a:rPr>
              <a:t>
</a:t>
            </a:r>
            <a:r>
              <a:rPr sz="1300" b="0" dirty="0" err="1">
                <a:solidFill>
                  <a:srgbClr val="555555"/>
                </a:solidFill>
                <a:latin typeface="배달의민족 주아"/>
              </a:rPr>
              <a:t>카테고리별</a:t>
            </a:r>
            <a:r>
              <a:rPr sz="1300" b="0" dirty="0">
                <a:solidFill>
                  <a:srgbClr val="555555"/>
                </a:solidFill>
                <a:latin typeface="배달의민족 주아"/>
              </a:rPr>
              <a:t> θ </a:t>
            </a:r>
            <a:r>
              <a:rPr sz="1300" b="0" dirty="0" err="1">
                <a:solidFill>
                  <a:srgbClr val="555555"/>
                </a:solidFill>
                <a:latin typeface="배달의민족 주아"/>
              </a:rPr>
              <a:t>초기화</a:t>
            </a:r>
            <a:r>
              <a:rPr sz="1300" b="0" dirty="0">
                <a:solidFill>
                  <a:srgbClr val="555555"/>
                </a:solidFill>
                <a:latin typeface="배달의민족 주아"/>
              </a:rPr>
              <a:t>
</a:t>
            </a:r>
            <a:r>
              <a:rPr sz="1300" b="0" dirty="0" err="1">
                <a:solidFill>
                  <a:srgbClr val="555555"/>
                </a:solidFill>
                <a:latin typeface="배달의민족 주아"/>
              </a:rPr>
              <a:t>Softmax</a:t>
            </a:r>
            <a:r>
              <a:rPr sz="1300" b="0" dirty="0">
                <a:solidFill>
                  <a:srgbClr val="555555"/>
                </a:solidFill>
                <a:latin typeface="배달의민족 주아"/>
              </a:rPr>
              <a:t> → TOP3 </a:t>
            </a:r>
            <a:r>
              <a:rPr sz="1300" b="0" dirty="0" err="1">
                <a:solidFill>
                  <a:srgbClr val="555555"/>
                </a:solidFill>
                <a:latin typeface="배달의민족 주아"/>
              </a:rPr>
              <a:t>반환</a:t>
            </a:r>
            <a:endParaRPr sz="1300" b="0" dirty="0">
              <a:solidFill>
                <a:srgbClr val="555555"/>
              </a:solidFill>
              <a:latin typeface="배달의민족 주아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7680" y="1143000"/>
            <a:ext cx="3611880" cy="3840480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361188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431560"/>
            <a:ext cx="3611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12848"/>
            <a:ext cx="3337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222222"/>
                </a:solidFill>
                <a:latin typeface="배달의민족 주아"/>
              </a:rPr>
              <a:t>POST /webhook/feedback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2724912"/>
            <a:ext cx="315468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434840" y="2816352"/>
                <a:ext cx="3337560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food_feedback</a:t>
                </a:r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 </a:t>
                </a:r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저장</a:t>
                </a:r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
θ[category] </a:t>
                </a:r>
                <a14:m>
                  <m:oMath xmlns:m="http://schemas.openxmlformats.org/officeDocument/2006/math">
                    <m:r>
                      <a:rPr lang="en-US" altLang="ko-KR" sz="1300" b="0" i="1" dirty="0" smtClean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= 0.2
</a:t>
                </a:r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즉시</a:t>
                </a:r>
                <a:r>
                  <a:rPr sz="1300" b="0" dirty="0">
                    <a:solidFill>
                      <a:srgbClr val="555555"/>
                    </a:solidFill>
                    <a:latin typeface="배달의민족 주아"/>
                  </a:rPr>
                  <a:t> </a:t>
                </a:r>
                <a:r>
                  <a:rPr sz="1300" b="0" dirty="0" err="1">
                    <a:solidFill>
                      <a:srgbClr val="555555"/>
                    </a:solidFill>
                    <a:latin typeface="배달의민족 주아"/>
                  </a:rPr>
                  <a:t>반영</a:t>
                </a:r>
                <a:endParaRPr sz="1300" b="0" dirty="0">
                  <a:solidFill>
                    <a:srgbClr val="555555"/>
                  </a:solidFill>
                  <a:latin typeface="배달의민족 주아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40" y="2816352"/>
                <a:ext cx="3337560" cy="692497"/>
              </a:xfrm>
              <a:prstGeom prst="rect">
                <a:avLst/>
              </a:prstGeom>
              <a:blipFill>
                <a:blip r:embed="rId2"/>
                <a:stretch>
                  <a:fillRect b="-70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/>
          <p:cNvSpPr/>
          <p:nvPr/>
        </p:nvSpPr>
        <p:spPr>
          <a:xfrm>
            <a:off x="8138160" y="1143000"/>
            <a:ext cx="3611880" cy="3840480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61188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1431560"/>
            <a:ext cx="3611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12848"/>
            <a:ext cx="3337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222222"/>
                </a:solidFill>
                <a:latin typeface="배달의민족 주아"/>
              </a:rPr>
              <a:t>POST /webhook/food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2724912"/>
            <a:ext cx="315468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2816352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θ 조회 → Decay 적용
Temperature Softmax
→ Floor → 식당 정렬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38928"/>
            <a:ext cx="11274552" cy="153619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2303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전체 흐름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577840"/>
            <a:ext cx="1828800" cy="68580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React 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7424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577840"/>
            <a:ext cx="1828800" cy="68580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n8n Webhook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7424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5577840"/>
            <a:ext cx="1828800" cy="685800"/>
          </a:xfrm>
          <a:prstGeom prst="round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5216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Supabase (θ)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7424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5577840"/>
            <a:ext cx="1828800" cy="685800"/>
          </a:xfrm>
          <a:prstGeom prst="round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Decay+Softmax+Floor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7424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5577840"/>
            <a:ext cx="1828800" cy="68580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추천 결과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600" b="1">
                <a:solidFill>
                  <a:srgbClr val="22222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최종 비교</a:t>
            </a:r>
            <a:endParaRPr sz="2600" b="1">
              <a:solidFill>
                <a:srgbClr val="222222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두 방식 모두 '확률 분포 최적화'가 목표 — 방법이 다릅니다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303520" cy="521208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0352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A01E"/>
                </a:solidFill>
                <a:latin typeface="배달의민족 주아"/>
              </a:rPr>
              <a:t>일반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기계가 스스로 방향을 계산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84831"/>
            <a:ext cx="4160520" cy="548640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F5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1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01E"/>
                </a:solidFill>
                <a:latin typeface="배달의민족 주아"/>
              </a:rPr>
              <a:t>📦 데이터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33471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43199"/>
            <a:ext cx="4160520" cy="548640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F5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834639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01E"/>
                </a:solidFill>
                <a:latin typeface="배달의민족 주아"/>
              </a:rPr>
              <a:t>🤖 모델 예측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91839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01567"/>
            <a:ext cx="4160520" cy="54864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493007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5C5C"/>
                </a:solidFill>
                <a:latin typeface="배달의민족 주아"/>
              </a:rPr>
              <a:t>❗ 오차(Loss) 계산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950207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59935"/>
            <a:ext cx="4160520" cy="54864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151375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5C5C"/>
                </a:solidFill>
                <a:latin typeface="배달의민족 주아"/>
              </a:rPr>
              <a:t>🔁 그래디언트 자동 계산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608575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18303"/>
            <a:ext cx="4160520" cy="548640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F5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809743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01E"/>
                </a:solidFill>
                <a:latin typeface="배달의민족 주아"/>
              </a:rPr>
              <a:t>✏️ 가중치 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932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A01E"/>
                </a:solidFill>
                <a:latin typeface="배달의민족 주아"/>
              </a:rPr>
              <a:t>↺ 반복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926080"/>
            <a:ext cx="822960" cy="1024127"/>
          </a:xfrm>
          <a:prstGeom prst="round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160" y="32461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배달의민족 주아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1143000"/>
            <a:ext cx="4937760" cy="521208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12280" y="1143000"/>
            <a:ext cx="493776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95160" y="12618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8BD4"/>
                </a:solidFill>
                <a:latin typeface="배달의민족 주아"/>
              </a:rPr>
              <a:t>우리 시스템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1664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사람의 반응이 방향을 알려줌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084831"/>
            <a:ext cx="3840480" cy="54864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217627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8BD4"/>
                </a:solidFill>
                <a:latin typeface="배달의민족 주아"/>
              </a:rPr>
              <a:t>📱 추천 결과 표시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633471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2743199"/>
            <a:ext cx="3840480" cy="548640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3AB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0" y="28346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ABD85"/>
                </a:solidFill>
                <a:latin typeface="배달의민족 주아"/>
              </a:rPr>
              <a:t>👤 민수가 반응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291839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3401567"/>
            <a:ext cx="3840480" cy="548640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3AB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0" y="3493007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ABD85"/>
                </a:solidFill>
                <a:latin typeface="배달의민족 주아"/>
              </a:rPr>
              <a:t>👍/👎/🏆 피드백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950207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4059935"/>
            <a:ext cx="3840480" cy="548640"/>
          </a:xfrm>
          <a:prstGeom prst="roundRect">
            <a:avLst/>
          </a:prstGeom>
          <a:solidFill>
            <a:srgbClr val="EEE8FF"/>
          </a:solidFill>
          <a:ln w="19050">
            <a:solidFill>
              <a:srgbClr val="8B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0" y="415137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6FD4"/>
                </a:solidFill>
                <a:latin typeface="배달의민족 주아"/>
              </a:rPr>
              <a:t>➡️ 이것이 그래디언트!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4608575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4718303"/>
            <a:ext cx="3840480" cy="54864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480974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8BD4"/>
                </a:solidFill>
                <a:latin typeface="배달의민족 주아"/>
              </a:rPr>
              <a:t>✏️ θ 즉시 업데이트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989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58BD4"/>
                </a:solidFill>
                <a:latin typeface="배달의민족 주아"/>
              </a:rPr>
              <a:t>↺ 반복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510528"/>
            <a:ext cx="10908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사람의 선택 = 그래디언트  —  ChatGPT 학습에 쓰인 RLHF(인간 피드백 강화학습)와 같은 원리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지금은 취향만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현재 구현의 한계와 개선 가능성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212080" cy="52120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212080" cy="635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" y="1279652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88888"/>
                </a:solidFill>
                <a:latin typeface="배달의민족 주아"/>
              </a:rPr>
              <a:t>지금 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4663440" cy="658368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9568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01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카테고리 7차원 One-hot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피드백으로 θ 업데이트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4663440" cy="658368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7340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791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Softmax 확률 변환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718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로짓 → 선호 확률 분포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80"/>
            <a:ext cx="4663440" cy="658368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5112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4564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Temperature Softmax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490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필터 버블 방지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60520"/>
            <a:ext cx="4663440" cy="658368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288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336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Temporal Decay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262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취향 변화 반영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37760"/>
            <a:ext cx="4663440" cy="658368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50657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0109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Dirichlet Floor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035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0% 카테고리 방지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143000"/>
            <a:ext cx="5760720" cy="5212080"/>
          </a:xfrm>
          <a:prstGeom prst="round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0" y="1143000"/>
            <a:ext cx="5760720" cy="6350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8232" y="1283315"/>
            <a:ext cx="5394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B6FD4"/>
                </a:solidFill>
                <a:latin typeface="배달의민족 주아"/>
              </a:rPr>
              <a:t>개선 방향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1828800"/>
            <a:ext cx="53949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99632" y="1920240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배달의민족 주아"/>
              </a:rPr>
              <a:t>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FD4"/>
                </a:solidFill>
                <a:latin typeface="배달의민족 주아"/>
              </a:rPr>
              <a:t>날씨 × 개인 패턴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221284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비 오는 날 이 유저가 실제로 뭘 먹었나?
개인별 날씨-카테고리 패턴 학습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2907792"/>
            <a:ext cx="53949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99632" y="2999232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배달의민족 주아"/>
              </a:rPr>
              <a:t>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2962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FD4"/>
                </a:solidFill>
                <a:latin typeface="배달의민족 주아"/>
              </a:rPr>
              <a:t>시간대 × 개인 패턴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32918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이 유저의 저녁 식사 카테고리 패턴
시간별 개인화 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3986784"/>
            <a:ext cx="53949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99632" y="4078224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배달의민족 주아"/>
              </a:rPr>
              <a:t>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4041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FD4"/>
                </a:solidFill>
                <a:latin typeface="배달의민족 주아"/>
              </a:rPr>
              <a:t>감정 × 식욕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3708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일기 데이터 연동 — 스트레스 날 패턴
감정 상태에 맞는 추천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5065776"/>
            <a:ext cx="53949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99632" y="5157216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배달의민족 주아"/>
              </a:rPr>
              <a:t>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FD4"/>
                </a:solidFill>
                <a:latin typeface="배달의민족 주아"/>
              </a:rPr>
              <a:t>거리·가격 선호도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544982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이 유저가 선택한 식당의 거리·가격대
상황 맞춤 필터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6473952"/>
            <a:ext cx="11274552" cy="274320"/>
          </a:xfrm>
          <a:prstGeom prst="round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6510528"/>
            <a:ext cx="10908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데이터가 충분히 쌓이면 — 상황까지 개인화된 추천이 가능해집니다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3254</Words>
  <Application>Microsoft Office PowerPoint</Application>
  <PresentationFormat>사용자 지정</PresentationFormat>
  <Paragraphs>756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배달의민족 주아</vt:lpstr>
      <vt:lpstr>맑은 고딕</vt:lpstr>
      <vt:lpstr>Arial</vt:lpstr>
      <vt:lpstr>Cambria Math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우진</cp:lastModifiedBy>
  <cp:revision>9</cp:revision>
  <dcterms:created xsi:type="dcterms:W3CDTF">2013-01-27T09:14:16Z</dcterms:created>
  <dcterms:modified xsi:type="dcterms:W3CDTF">2026-05-19T01:02:03Z</dcterms:modified>
  <cp:category/>
</cp:coreProperties>
</file>